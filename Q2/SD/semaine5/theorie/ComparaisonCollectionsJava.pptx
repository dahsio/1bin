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18"/>
  </p:notesMasterIdLst>
  <p:sldIdLst>
    <p:sldId id="256" r:id="rId4"/>
    <p:sldId id="257" r:id="rId5"/>
    <p:sldId id="259" r:id="rId6"/>
    <p:sldId id="258" r:id="rId7"/>
    <p:sldId id="264" r:id="rId8"/>
    <p:sldId id="262" r:id="rId9"/>
    <p:sldId id="271" r:id="rId10"/>
    <p:sldId id="277" r:id="rId11"/>
    <p:sldId id="266" r:id="rId12"/>
    <p:sldId id="283" r:id="rId13"/>
    <p:sldId id="284" r:id="rId14"/>
    <p:sldId id="285" r:id="rId15"/>
    <p:sldId id="286" r:id="rId16"/>
    <p:sldId id="270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557" autoAdjust="0"/>
  </p:normalViewPr>
  <p:slideViewPr>
    <p:cSldViewPr snapToGrid="0">
      <p:cViewPr varScale="1">
        <p:scale>
          <a:sx n="106" d="100"/>
          <a:sy n="106" d="100"/>
        </p:scale>
        <p:origin x="17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1FB53-E2B3-4EAF-857F-116602631270}" type="datetimeFigureOut">
              <a:rPr lang="fr-BE" smtClean="0"/>
              <a:t>11-03-25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F662D-F15C-472D-85E4-1E1DCE2E6B5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1842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662D-F15C-472D-85E4-1E1DCE2E6B51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851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662D-F15C-472D-85E4-1E1DCE2E6B51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34596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En orange foncé : interfaces, en orange clair : classes, en gris : classes inusitées</a:t>
            </a:r>
          </a:p>
          <a:p>
            <a:r>
              <a:rPr lang="fr-BE" dirty="0"/>
              <a:t>   List </a:t>
            </a:r>
            <a:r>
              <a:rPr lang="fr-BE" dirty="0">
                <a:sym typeface="Wingdings" panose="05000000000000000000" pitchFamily="2" charset="2"/>
              </a:rPr>
              <a:t> ordonné par</a:t>
            </a:r>
            <a:r>
              <a:rPr lang="fr-BE" baseline="0" dirty="0">
                <a:sym typeface="Wingdings" panose="05000000000000000000" pitchFamily="2" charset="2"/>
              </a:rPr>
              <a:t> </a:t>
            </a:r>
            <a:r>
              <a:rPr lang="fr-BE" dirty="0">
                <a:sym typeface="Wingdings" panose="05000000000000000000" pitchFamily="2" charset="2"/>
              </a:rPr>
              <a:t>index </a:t>
            </a:r>
            <a:br>
              <a:rPr lang="fr-BE" dirty="0">
                <a:sym typeface="Wingdings" panose="05000000000000000000" pitchFamily="2" charset="2"/>
              </a:rPr>
            </a:br>
            <a:r>
              <a:rPr lang="fr-BE" dirty="0">
                <a:sym typeface="Wingdings" panose="05000000000000000000" pitchFamily="2" charset="2"/>
              </a:rPr>
              <a:t>   Queue  FIFO et LIFO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F662D-F15C-472D-85E4-1E1DCE2E6B51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44642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F662D-F15C-472D-85E4-1E1DCE2E6B51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35858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662D-F15C-472D-85E4-1E1DCE2E6B51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34433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F662D-F15C-472D-85E4-1E1DCE2E6B51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51238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Une liste chaînée prend plus de places : il faut stocker toutes les adresses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662D-F15C-472D-85E4-1E1DCE2E6B51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8276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662D-F15C-472D-85E4-1E1DCE2E6B51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19702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 err="1"/>
              <a:t>ArrayDeque</a:t>
            </a:r>
            <a:r>
              <a:rPr lang="fr-BE" dirty="0"/>
              <a:t> </a:t>
            </a:r>
            <a:r>
              <a:rPr lang="fr-BE" dirty="0">
                <a:sym typeface="Wingdings" panose="05000000000000000000" pitchFamily="2" charset="2"/>
              </a:rPr>
              <a:t> opérations sur les extrémités de la liste – rien de prévu pour modifier l’intérieur de la liste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 err="1">
                <a:sym typeface="Wingdings" panose="05000000000000000000" pitchFamily="2" charset="2"/>
              </a:rPr>
              <a:t>ArrayList</a:t>
            </a:r>
            <a:r>
              <a:rPr lang="fr-BE" dirty="0">
                <a:sym typeface="Wingdings" panose="05000000000000000000" pitchFamily="2" charset="2"/>
              </a:rPr>
              <a:t>  …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F662D-F15C-472D-85E4-1E1DCE2E6B51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31825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Java 21 </a:t>
            </a:r>
            <a:r>
              <a:rPr lang="fr-BE" dirty="0">
                <a:sym typeface="Wingdings" panose="05000000000000000000" pitchFamily="2" charset="2"/>
              </a:rPr>
              <a:t> septembre 2023     impression de « fourre tout »</a:t>
            </a:r>
            <a:endParaRPr lang="fr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F662D-F15C-472D-85E4-1E1DCE2E6B51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86513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Coût : O(1) mieux que O(N) MAIS si O(N) // O(N) ??? Par exemple </a:t>
            </a:r>
            <a:r>
              <a:rPr lang="fr-BE" dirty="0" err="1"/>
              <a:t>get</a:t>
            </a:r>
            <a:r>
              <a:rPr lang="fr-BE" dirty="0"/>
              <a:t>() set() </a:t>
            </a:r>
            <a:r>
              <a:rPr lang="fr-BE" dirty="0">
                <a:sym typeface="Wingdings" panose="05000000000000000000" pitchFamily="2" charset="2"/>
              </a:rPr>
              <a:t> </a:t>
            </a:r>
            <a:r>
              <a:rPr lang="fr-BE" dirty="0" err="1">
                <a:sym typeface="Wingdings" panose="05000000000000000000" pitchFamily="2" charset="2"/>
              </a:rPr>
              <a:t>priviégier</a:t>
            </a:r>
            <a:r>
              <a:rPr lang="fr-BE" dirty="0">
                <a:sym typeface="Wingdings" panose="05000000000000000000" pitchFamily="2" charset="2"/>
              </a:rPr>
              <a:t> l’</a:t>
            </a:r>
            <a:r>
              <a:rPr lang="fr-BE" dirty="0" err="1">
                <a:sym typeface="Wingdings" panose="05000000000000000000" pitchFamily="2" charset="2"/>
              </a:rPr>
              <a:t>arrayList</a:t>
            </a:r>
            <a:r>
              <a:rPr lang="fr-BE" dirty="0">
                <a:sym typeface="Wingdings" panose="05000000000000000000" pitchFamily="2" charset="2"/>
              </a:rPr>
              <a:t>, mais </a:t>
            </a:r>
            <a:r>
              <a:rPr lang="fr-BE" dirty="0" err="1">
                <a:sym typeface="Wingdings" panose="05000000000000000000" pitchFamily="2" charset="2"/>
              </a:rPr>
              <a:t>remove</a:t>
            </a:r>
            <a:r>
              <a:rPr lang="fr-BE" dirty="0">
                <a:sym typeface="Wingdings" panose="05000000000000000000" pitchFamily="2" charset="2"/>
              </a:rPr>
              <a:t>() ?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F662D-F15C-472D-85E4-1E1DCE2E6B51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338651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 err="1"/>
              <a:t>LinkedList</a:t>
            </a:r>
            <a:r>
              <a:rPr lang="fr-BE" dirty="0"/>
              <a:t> : pas d’accès direct . Mais …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Selon l’index on peut partit du début ou de la fin !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Une fois le nœud sélectionné un </a:t>
            </a:r>
            <a:r>
              <a:rPr lang="fr-BE" dirty="0" err="1"/>
              <a:t>remove</a:t>
            </a:r>
            <a:r>
              <a:rPr lang="fr-BE" dirty="0"/>
              <a:t>() ou un </a:t>
            </a:r>
            <a:r>
              <a:rPr lang="fr-BE" dirty="0" err="1"/>
              <a:t>add</a:t>
            </a:r>
            <a:r>
              <a:rPr lang="fr-BE" dirty="0"/>
              <a:t>() est en O(1).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Dans une table, il faut encore faire des décalages.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F662D-F15C-472D-85E4-1E1DCE2E6B51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74933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Pas d’ajout possible à l’intérieur de l’</a:t>
            </a:r>
            <a:r>
              <a:rPr lang="fr-BE" dirty="0" err="1"/>
              <a:t>arrayDeque</a:t>
            </a:r>
            <a:r>
              <a:rPr lang="fr-BE" dirty="0"/>
              <a:t> – suppressions possibles mais plus coûteuses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F662D-F15C-472D-85E4-1E1DCE2E6B51}" type="slidenum">
              <a:rPr lang="fr-BE" smtClean="0"/>
              <a:t>13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87261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O(1)//O(1) </a:t>
            </a:r>
            <a:r>
              <a:rPr lang="en-US" baseline="0" dirty="0">
                <a:sym typeface="Wingdings" panose="05000000000000000000" pitchFamily="2" charset="2"/>
              </a:rPr>
              <a:t> il faut faire des tests : </a:t>
            </a:r>
            <a:r>
              <a:rPr lang="en-US" dirty="0"/>
              <a:t>n * </a:t>
            </a:r>
            <a:r>
              <a:rPr lang="en-US" dirty="0" err="1"/>
              <a:t>addLast</a:t>
            </a:r>
            <a:r>
              <a:rPr lang="en-US" dirty="0"/>
              <a:t>() </a:t>
            </a:r>
            <a:r>
              <a:rPr lang="en-US" dirty="0" err="1"/>
              <a:t>suivis</a:t>
            </a:r>
            <a:r>
              <a:rPr lang="en-US" baseline="0" dirty="0"/>
              <a:t> de n * </a:t>
            </a:r>
            <a:r>
              <a:rPr lang="en-US" baseline="0" dirty="0" err="1"/>
              <a:t>removeFirst</a:t>
            </a:r>
            <a:r>
              <a:rPr lang="en-US" baseline="0" dirty="0"/>
              <a:t>() 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F662D-F15C-472D-85E4-1E1DCE2E6B51}" type="slidenum">
              <a:rPr lang="fr-BE" smtClean="0"/>
              <a:t>14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14591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37" name="Image 36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8" name="Image 37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76" name="Image 75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77" name="Image 76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115" name="Image 114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116" name="Image 115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Modifiez le style du titre</a:t>
            </a:r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2/22/19</a:t>
            </a:r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DAE57651-95AC-43FD-BF78-3CEE98A98B40}" type="slidenum">
              <a:rPr lang="en-US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‹N°›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2/22/19</a:t>
            </a:r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832FABFE-0247-4D50-99A1-C4FF8D4D125E}" type="slidenum">
              <a:rPr lang="en-US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‹N°›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fr-F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title text format</a:t>
            </a: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Modifiez le style du titre</a:t>
            </a:r>
            <a:endParaRPr lang="fr-F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LevelModifiez les styles du texte du masque</a:t>
            </a: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fr-FR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Deuxième niveau</a:t>
            </a:r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143000" lvl="2" indent="-2282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Troisième niveau</a:t>
            </a:r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600200" lvl="3" indent="-22824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Quatrième niveau</a:t>
            </a:r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2057400" lvl="4" indent="-228240">
              <a:lnSpc>
                <a:spcPct val="100000"/>
              </a:lnSpc>
              <a:buClr>
                <a:srgbClr val="000000"/>
              </a:buClr>
              <a:buFont typeface="Arial"/>
              <a:buChar char="»"/>
            </a:pPr>
            <a:r>
              <a:rPr lang="fr-F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Cinquième niveau</a:t>
            </a:r>
            <a:endParaRPr lang="fr-F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2/22/19</a:t>
            </a:r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847E1E9D-133B-4A4C-8A5E-88E4EBA0AC41}" type="slidenum">
              <a:rPr lang="en-US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‹N°›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jdk/jdk/blob/master/src/java.base/share/classes/java/util/ArrayList.jav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jdk/jdk/blob/master/src/java.base/share/classes/java/util/ArrayDeque.jav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jdk/jdk/blob/master/src/java.base/share/classes/java/util/LinkedList.jav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archive.org/web/20191101213733/http:/brianandstuff.com/2016/12/12/java-arraydeque-vs-linkedlist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Shape 1"/>
          <p:cNvSpPr txBox="1"/>
          <p:nvPr/>
        </p:nvSpPr>
        <p:spPr>
          <a:xfrm>
            <a:off x="457200" y="1570645"/>
            <a:ext cx="8229240" cy="111760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fr-FR" sz="45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Comparaison des collections Java</a:t>
            </a:r>
          </a:p>
        </p:txBody>
      </p:sp>
      <p:sp>
        <p:nvSpPr>
          <p:cNvPr id="119" name="CustomShape 3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0" name="CustomShape 4"/>
          <p:cNvSpPr/>
          <p:nvPr/>
        </p:nvSpPr>
        <p:spPr>
          <a:xfrm>
            <a:off x="0" y="453384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1" name="CustomShape 5"/>
          <p:cNvSpPr/>
          <p:nvPr/>
        </p:nvSpPr>
        <p:spPr>
          <a:xfrm>
            <a:off x="0" y="793440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2"/>
          <p:cNvSpPr/>
          <p:nvPr/>
        </p:nvSpPr>
        <p:spPr>
          <a:xfrm>
            <a:off x="5153040" y="1828800"/>
            <a:ext cx="3419280" cy="27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4" name="CustomShape 3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5" name="CustomShape 4"/>
          <p:cNvSpPr/>
          <p:nvPr/>
        </p:nvSpPr>
        <p:spPr>
          <a:xfrm>
            <a:off x="0" y="453384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6" name="CustomShape 5"/>
          <p:cNvSpPr/>
          <p:nvPr/>
        </p:nvSpPr>
        <p:spPr>
          <a:xfrm>
            <a:off x="0" y="793440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" t="20000" r="20598" b="42696"/>
          <a:stretch/>
        </p:blipFill>
        <p:spPr>
          <a:xfrm>
            <a:off x="439411" y="1478602"/>
            <a:ext cx="8004198" cy="5197788"/>
          </a:xfrm>
          <a:prstGeom prst="rect">
            <a:avLst/>
          </a:prstGeom>
        </p:spPr>
      </p:pic>
      <p:sp>
        <p:nvSpPr>
          <p:cNvPr id="8" name="TextShape 1"/>
          <p:cNvSpPr txBox="1"/>
          <p:nvPr/>
        </p:nvSpPr>
        <p:spPr>
          <a:xfrm>
            <a:off x="457200" y="274680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collections Java</a:t>
            </a:r>
            <a:endParaRPr lang="fr-F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67907" y="5107021"/>
            <a:ext cx="2490281" cy="1682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696" y="5306180"/>
            <a:ext cx="840069" cy="1370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2"/>
          <p:cNvSpPr/>
          <p:nvPr/>
        </p:nvSpPr>
        <p:spPr>
          <a:xfrm>
            <a:off x="5189171" y="1815140"/>
            <a:ext cx="3419280" cy="27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4" name="CustomShape 3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5" name="CustomShape 4"/>
          <p:cNvSpPr/>
          <p:nvPr/>
        </p:nvSpPr>
        <p:spPr>
          <a:xfrm>
            <a:off x="0" y="453384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6" name="CustomShape 5"/>
          <p:cNvSpPr/>
          <p:nvPr/>
        </p:nvSpPr>
        <p:spPr>
          <a:xfrm>
            <a:off x="0" y="793440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" t="20000" r="20598" b="42696"/>
          <a:stretch/>
        </p:blipFill>
        <p:spPr>
          <a:xfrm>
            <a:off x="439411" y="1478602"/>
            <a:ext cx="8004198" cy="5197788"/>
          </a:xfrm>
          <a:prstGeom prst="rect">
            <a:avLst/>
          </a:prstGeom>
        </p:spPr>
      </p:pic>
      <p:sp>
        <p:nvSpPr>
          <p:cNvPr id="8" name="TextShape 1"/>
          <p:cNvSpPr txBox="1"/>
          <p:nvPr/>
        </p:nvSpPr>
        <p:spPr>
          <a:xfrm>
            <a:off x="457200" y="274680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Les </a:t>
            </a:r>
            <a:r>
              <a:rPr lang="fr-FR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collections Java</a:t>
            </a:r>
            <a:endParaRPr lang="fr-F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67907" y="5107021"/>
            <a:ext cx="2490281" cy="1682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" name="Ellipse 3"/>
          <p:cNvSpPr/>
          <p:nvPr/>
        </p:nvSpPr>
        <p:spPr>
          <a:xfrm>
            <a:off x="4497857" y="3484606"/>
            <a:ext cx="2137718" cy="877329"/>
          </a:xfrm>
          <a:prstGeom prst="ellipse">
            <a:avLst/>
          </a:prstGeom>
          <a:noFill/>
          <a:ln w="444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Ellipse 9"/>
          <p:cNvSpPr/>
          <p:nvPr/>
        </p:nvSpPr>
        <p:spPr>
          <a:xfrm>
            <a:off x="6470733" y="2742656"/>
            <a:ext cx="2137718" cy="877329"/>
          </a:xfrm>
          <a:prstGeom prst="ellipse">
            <a:avLst/>
          </a:prstGeom>
          <a:noFill/>
          <a:ln w="444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696" y="5306180"/>
            <a:ext cx="840069" cy="1370210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F81F626B-C27B-86D9-836F-7EA039C0FC90}"/>
              </a:ext>
            </a:extLst>
          </p:cNvPr>
          <p:cNvSpPr/>
          <p:nvPr/>
        </p:nvSpPr>
        <p:spPr>
          <a:xfrm>
            <a:off x="6470733" y="1787931"/>
            <a:ext cx="2137718" cy="877329"/>
          </a:xfrm>
          <a:prstGeom prst="ellipse">
            <a:avLst/>
          </a:prstGeom>
          <a:noFill/>
          <a:ln w="444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3624261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2"/>
          <p:cNvSpPr/>
          <p:nvPr/>
        </p:nvSpPr>
        <p:spPr>
          <a:xfrm>
            <a:off x="5153040" y="1828800"/>
            <a:ext cx="3419280" cy="27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4" name="CustomShape 3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5" name="CustomShape 4"/>
          <p:cNvSpPr/>
          <p:nvPr/>
        </p:nvSpPr>
        <p:spPr>
          <a:xfrm>
            <a:off x="0" y="453384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6" name="CustomShape 5"/>
          <p:cNvSpPr/>
          <p:nvPr/>
        </p:nvSpPr>
        <p:spPr>
          <a:xfrm>
            <a:off x="0" y="793440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7" name="TextShape 1"/>
          <p:cNvSpPr txBox="1"/>
          <p:nvPr/>
        </p:nvSpPr>
        <p:spPr>
          <a:xfrm>
            <a:off x="457200" y="274680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4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ArrayList</a:t>
            </a:r>
            <a:endParaRPr lang="fr-FR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57200" y="1336672"/>
            <a:ext cx="8430578" cy="332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>
                <a:hlinkClick r:id="rId3"/>
              </a:rPr>
              <a:t>https://github.com/openjdk/jdk/blob/master/src/java.base/share/classes/java/util/ArrayList.java</a:t>
            </a:r>
            <a:endParaRPr lang="fr-BE" dirty="0"/>
          </a:p>
          <a:p>
            <a:endParaRPr lang="fr-B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public class </a:t>
            </a:r>
            <a:r>
              <a:rPr lang="fr-BE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&lt;E&gt; </a:t>
            </a:r>
          </a:p>
          <a:p>
            <a:pPr marL="630238">
              <a:lnSpc>
                <a:spcPct val="110000"/>
              </a:lnSpc>
              <a:tabLst>
                <a:tab pos="1260475" algn="l"/>
              </a:tabLst>
            </a:pP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B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 List&lt;E&gt;, … {</a:t>
            </a:r>
          </a:p>
          <a:p>
            <a:pPr marL="630238">
              <a:lnSpc>
                <a:spcPct val="110000"/>
              </a:lnSpc>
              <a:tabLst>
                <a:tab pos="1260475" algn="l"/>
              </a:tabLst>
            </a:pPr>
            <a:endParaRPr lang="fr-B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0238">
              <a:lnSpc>
                <a:spcPct val="110000"/>
              </a:lnSpc>
              <a:tabLst>
                <a:tab pos="1260475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Attributs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0238">
              <a:lnSpc>
                <a:spcPct val="110000"/>
              </a:lnSpc>
              <a:tabLst>
                <a:tab pos="1260475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transient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Object[] </a:t>
            </a:r>
            <a:r>
              <a:rPr 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elementData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630238">
              <a:lnSpc>
                <a:spcPct val="110000"/>
              </a:lnSpc>
              <a:tabLst>
                <a:tab pos="1260475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private   </a:t>
            </a:r>
            <a:r>
              <a:rPr 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fr-B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0238">
              <a:lnSpc>
                <a:spcPct val="110000"/>
              </a:lnSpc>
              <a:tabLst>
                <a:tab pos="1260475" algn="l"/>
              </a:tabLst>
            </a:pP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  <a:p>
            <a:pPr marL="630238">
              <a:lnSpc>
                <a:spcPct val="110000"/>
              </a:lnSpc>
              <a:tabLst>
                <a:tab pos="1260475" algn="l"/>
              </a:tabLst>
            </a:pP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Flèche droite 4"/>
          <p:cNvSpPr/>
          <p:nvPr/>
        </p:nvSpPr>
        <p:spPr>
          <a:xfrm>
            <a:off x="2533134" y="5581686"/>
            <a:ext cx="889687" cy="321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3731740" y="5456532"/>
            <a:ext cx="466409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3000" dirty="0">
                <a:solidFill>
                  <a:schemeClr val="accent1">
                    <a:lumMod val="75000"/>
                  </a:schemeClr>
                </a:solidFill>
              </a:rPr>
              <a:t>Tableau redimensionnable</a:t>
            </a:r>
          </a:p>
        </p:txBody>
      </p:sp>
    </p:spTree>
    <p:extLst>
      <p:ext uri="{BB962C8B-B14F-4D97-AF65-F5344CB8AC3E}">
        <p14:creationId xmlns:p14="http://schemas.microsoft.com/office/powerpoint/2010/main" val="285230417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2"/>
          <p:cNvSpPr/>
          <p:nvPr/>
        </p:nvSpPr>
        <p:spPr>
          <a:xfrm>
            <a:off x="5153040" y="1828800"/>
            <a:ext cx="3419280" cy="27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4" name="CustomShape 3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5" name="CustomShape 4"/>
          <p:cNvSpPr/>
          <p:nvPr/>
        </p:nvSpPr>
        <p:spPr>
          <a:xfrm>
            <a:off x="0" y="453384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6" name="CustomShape 5"/>
          <p:cNvSpPr/>
          <p:nvPr/>
        </p:nvSpPr>
        <p:spPr>
          <a:xfrm>
            <a:off x="0" y="793440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7" name="TextShape 1"/>
          <p:cNvSpPr txBox="1"/>
          <p:nvPr/>
        </p:nvSpPr>
        <p:spPr>
          <a:xfrm>
            <a:off x="457200" y="274680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4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ArrayDeque</a:t>
            </a:r>
            <a:endParaRPr lang="fr-FR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629835" y="1303572"/>
            <a:ext cx="8513805" cy="3658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>
                <a:hlinkClick r:id="rId3"/>
              </a:rPr>
              <a:t>https://github.com/openjdk/jdk/blob/master/src/java.base/share/classes/java/util/ArrayDeque.java</a:t>
            </a:r>
            <a:endParaRPr lang="fr-BE" dirty="0"/>
          </a:p>
          <a:p>
            <a:endParaRPr lang="fr-BE" dirty="0"/>
          </a:p>
          <a:p>
            <a:pPr marL="444500">
              <a:lnSpc>
                <a:spcPct val="110000"/>
              </a:lnSpc>
              <a:tabLst>
                <a:tab pos="989013" algn="l"/>
              </a:tabLst>
            </a:pP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fr-BE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ArrayDeque</a:t>
            </a: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&lt;E&gt; </a:t>
            </a:r>
          </a:p>
          <a:p>
            <a:pPr marL="444500">
              <a:lnSpc>
                <a:spcPct val="110000"/>
              </a:lnSpc>
              <a:tabLst>
                <a:tab pos="989013" algn="l"/>
              </a:tabLst>
            </a:pP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fr-B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&lt;E&gt;, … {</a:t>
            </a:r>
          </a:p>
          <a:p>
            <a:pPr marL="444500">
              <a:lnSpc>
                <a:spcPct val="110000"/>
              </a:lnSpc>
              <a:tabLst>
                <a:tab pos="989013" algn="l"/>
              </a:tabLst>
            </a:pPr>
            <a:endParaRPr lang="fr-B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4500">
              <a:lnSpc>
                <a:spcPct val="110000"/>
              </a:lnSpc>
              <a:tabLst>
                <a:tab pos="989013" algn="l"/>
              </a:tabLst>
            </a:pPr>
            <a:r>
              <a:rPr lang="fr-BE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Attributs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4500">
              <a:lnSpc>
                <a:spcPct val="110000"/>
              </a:lnSpc>
              <a:tabLst>
                <a:tab pos="989013" algn="l"/>
              </a:tabLst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transient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Object[] elements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44500">
              <a:lnSpc>
                <a:spcPct val="110000"/>
              </a:lnSpc>
              <a:tabLst>
                <a:tab pos="989013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transient </a:t>
            </a:r>
            <a:r>
              <a:rPr 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head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44500">
              <a:lnSpc>
                <a:spcPct val="110000"/>
              </a:lnSpc>
              <a:tabLst>
                <a:tab pos="989013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transient </a:t>
            </a:r>
            <a:r>
              <a:rPr 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tail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44500">
              <a:lnSpc>
                <a:spcPct val="110000"/>
              </a:lnSpc>
              <a:tabLst>
                <a:tab pos="989013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  <a:p>
            <a:pPr marL="444500">
              <a:lnSpc>
                <a:spcPct val="110000"/>
              </a:lnSpc>
              <a:tabLst>
                <a:tab pos="989013" algn="l"/>
              </a:tabLst>
            </a:pP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Flèche droite 7"/>
          <p:cNvSpPr/>
          <p:nvPr/>
        </p:nvSpPr>
        <p:spPr>
          <a:xfrm>
            <a:off x="2533134" y="5581686"/>
            <a:ext cx="889687" cy="321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ZoneTexte 8"/>
          <p:cNvSpPr txBox="1"/>
          <p:nvPr/>
        </p:nvSpPr>
        <p:spPr>
          <a:xfrm>
            <a:off x="3731740" y="5456532"/>
            <a:ext cx="46640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3000" dirty="0">
                <a:solidFill>
                  <a:schemeClr val="accent1">
                    <a:lumMod val="75000"/>
                  </a:schemeClr>
                </a:solidFill>
              </a:rPr>
              <a:t>Tableau redimensionnable</a:t>
            </a:r>
          </a:p>
          <a:p>
            <a:r>
              <a:rPr lang="fr-BE" sz="3000" dirty="0">
                <a:solidFill>
                  <a:schemeClr val="accent1">
                    <a:lumMod val="75000"/>
                  </a:schemeClr>
                </a:solidFill>
              </a:rPr>
              <a:t>circulaire</a:t>
            </a:r>
          </a:p>
        </p:txBody>
      </p:sp>
    </p:spTree>
    <p:extLst>
      <p:ext uri="{BB962C8B-B14F-4D97-AF65-F5344CB8AC3E}">
        <p14:creationId xmlns:p14="http://schemas.microsoft.com/office/powerpoint/2010/main" val="148232867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2"/>
          <p:cNvSpPr/>
          <p:nvPr/>
        </p:nvSpPr>
        <p:spPr>
          <a:xfrm>
            <a:off x="5153040" y="1828800"/>
            <a:ext cx="3419280" cy="27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4" name="CustomShape 3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5" name="CustomShape 4"/>
          <p:cNvSpPr/>
          <p:nvPr/>
        </p:nvSpPr>
        <p:spPr>
          <a:xfrm>
            <a:off x="0" y="453384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6" name="CustomShape 5"/>
          <p:cNvSpPr/>
          <p:nvPr/>
        </p:nvSpPr>
        <p:spPr>
          <a:xfrm>
            <a:off x="0" y="793440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7" name="TextShape 1"/>
          <p:cNvSpPr txBox="1"/>
          <p:nvPr/>
        </p:nvSpPr>
        <p:spPr>
          <a:xfrm>
            <a:off x="457200" y="274680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Linked</a:t>
            </a:r>
            <a:r>
              <a:rPr lang="fr-FR" sz="4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List</a:t>
            </a:r>
            <a:endParaRPr lang="fr-FR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01653" y="789469"/>
            <a:ext cx="8540334" cy="584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BE" dirty="0"/>
          </a:p>
          <a:p>
            <a:pPr marL="358775">
              <a:lnSpc>
                <a:spcPct val="110000"/>
              </a:lnSpc>
              <a:tabLst>
                <a:tab pos="1260475" algn="l"/>
              </a:tabLst>
            </a:pPr>
            <a:r>
              <a:rPr lang="fr-BE" dirty="0">
                <a:solidFill>
                  <a:srgbClr val="7030A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https://github.com/openjdk/jdk/blob/master/src/java.base/share/classes/java/util/LinkedList.java</a:t>
            </a:r>
            <a:endParaRPr lang="fr-BE" dirty="0">
              <a:solidFill>
                <a:srgbClr val="7030A0"/>
              </a:solidFill>
            </a:endParaRPr>
          </a:p>
          <a:p>
            <a:pPr marL="358775">
              <a:lnSpc>
                <a:spcPct val="110000"/>
              </a:lnSpc>
              <a:tabLst>
                <a:tab pos="1260475" algn="l"/>
              </a:tabLst>
            </a:pPr>
            <a:endParaRPr lang="fr-BE" sz="1600" dirty="0">
              <a:solidFill>
                <a:srgbClr val="7030A0"/>
              </a:solidFill>
            </a:endParaRPr>
          </a:p>
          <a:p>
            <a:pPr marL="358775">
              <a:lnSpc>
                <a:spcPct val="110000"/>
              </a:lnSpc>
              <a:tabLst>
                <a:tab pos="1260475" algn="l"/>
              </a:tabLst>
            </a:pP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fr-BE" sz="17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&lt;E&gt; </a:t>
            </a:r>
          </a:p>
          <a:p>
            <a:pPr marL="358775">
              <a:lnSpc>
                <a:spcPct val="110000"/>
              </a:lnSpc>
              <a:tabLst>
                <a:tab pos="1260475" algn="l"/>
              </a:tabLst>
            </a:pP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BE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List&lt;E&gt;, </a:t>
            </a:r>
            <a:r>
              <a:rPr lang="fr-BE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Deque</a:t>
            </a: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&lt;E&gt;, … {</a:t>
            </a:r>
          </a:p>
          <a:p>
            <a:pPr marL="358775">
              <a:lnSpc>
                <a:spcPct val="110000"/>
              </a:lnSpc>
              <a:tabLst>
                <a:tab pos="1260475" algn="l"/>
              </a:tabLst>
            </a:pPr>
            <a:endParaRPr lang="fr-BE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8775">
              <a:lnSpc>
                <a:spcPct val="110000"/>
              </a:lnSpc>
              <a:tabLst>
                <a:tab pos="901700" algn="l"/>
              </a:tabLst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7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Attributs</a:t>
            </a:r>
            <a:endParaRPr lang="en-US" sz="1700" b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8775">
              <a:lnSpc>
                <a:spcPct val="110000"/>
              </a:lnSpc>
              <a:tabLst>
                <a:tab pos="901700" algn="l"/>
              </a:tabLst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transient </a:t>
            </a:r>
            <a:r>
              <a:rPr lang="en-US" sz="17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7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358775">
              <a:lnSpc>
                <a:spcPct val="110000"/>
              </a:lnSpc>
              <a:tabLst>
                <a:tab pos="901700" algn="l"/>
              </a:tabLst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transient </a:t>
            </a:r>
            <a:r>
              <a:rPr lang="en-US" sz="17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Node&lt;E&gt; first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58775">
              <a:lnSpc>
                <a:spcPct val="110000"/>
              </a:lnSpc>
              <a:tabLst>
                <a:tab pos="901700" algn="l"/>
              </a:tabLst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transient </a:t>
            </a:r>
            <a:r>
              <a:rPr lang="en-US" sz="17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Node&lt;E&gt; last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fr-BE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8775">
              <a:lnSpc>
                <a:spcPct val="110000"/>
              </a:lnSpc>
              <a:tabLst>
                <a:tab pos="901700" algn="l"/>
              </a:tabLst>
            </a:pP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  <a:p>
            <a:pPr marL="358775">
              <a:lnSpc>
                <a:spcPct val="110000"/>
              </a:lnSpc>
              <a:tabLst>
                <a:tab pos="901700" algn="l"/>
              </a:tabLst>
            </a:pP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sz="1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Classe interne </a:t>
            </a:r>
            <a:r>
              <a:rPr lang="fr-BE" sz="17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endParaRPr lang="fr-BE" sz="1700" b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8775">
              <a:lnSpc>
                <a:spcPct val="110000"/>
              </a:lnSpc>
              <a:tabLst>
                <a:tab pos="901700" algn="l"/>
              </a:tabLst>
            </a:pP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class </a:t>
            </a:r>
            <a:r>
              <a:rPr lang="fr-BE" sz="17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&lt;E&gt; {</a:t>
            </a:r>
          </a:p>
          <a:p>
            <a:pPr marL="358775">
              <a:lnSpc>
                <a:spcPct val="110000"/>
              </a:lnSpc>
              <a:tabLst>
                <a:tab pos="901700" algn="l"/>
              </a:tabLst>
            </a:pP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BE" sz="17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 item</a:t>
            </a: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58775">
              <a:lnSpc>
                <a:spcPct val="110000"/>
              </a:lnSpc>
              <a:tabLst>
                <a:tab pos="901700" algn="l"/>
              </a:tabLst>
            </a:pP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BE" sz="17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fr-BE" sz="17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&lt;E&gt; </a:t>
            </a:r>
            <a:r>
              <a:rPr lang="fr-BE" sz="17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58775">
              <a:lnSpc>
                <a:spcPct val="110000"/>
              </a:lnSpc>
              <a:tabLst>
                <a:tab pos="901700" algn="l"/>
              </a:tabLst>
            </a:pP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BE" sz="17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fr-BE" sz="17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&lt;E&gt; </a:t>
            </a:r>
            <a:r>
              <a:rPr lang="fr-BE" sz="17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58775">
              <a:lnSpc>
                <a:spcPct val="110000"/>
              </a:lnSpc>
              <a:tabLst>
                <a:tab pos="901700" algn="l"/>
              </a:tabLst>
            </a:pP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...</a:t>
            </a:r>
          </a:p>
          <a:p>
            <a:pPr marL="358775">
              <a:lnSpc>
                <a:spcPct val="110000"/>
              </a:lnSpc>
              <a:tabLst>
                <a:tab pos="901700" algn="l"/>
              </a:tabLst>
            </a:pP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358775">
              <a:lnSpc>
                <a:spcPct val="110000"/>
              </a:lnSpc>
              <a:tabLst>
                <a:tab pos="1260475" algn="l"/>
              </a:tabLst>
            </a:pPr>
            <a:r>
              <a:rPr lang="fr-BE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Flèche droite 7"/>
          <p:cNvSpPr/>
          <p:nvPr/>
        </p:nvSpPr>
        <p:spPr>
          <a:xfrm>
            <a:off x="5378723" y="5641060"/>
            <a:ext cx="889687" cy="321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9" name="ZoneTexte 8"/>
          <p:cNvSpPr txBox="1"/>
          <p:nvPr/>
        </p:nvSpPr>
        <p:spPr>
          <a:xfrm>
            <a:off x="6497010" y="5050358"/>
            <a:ext cx="229742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3000" dirty="0">
                <a:solidFill>
                  <a:schemeClr val="accent1">
                    <a:lumMod val="75000"/>
                  </a:schemeClr>
                </a:solidFill>
              </a:rPr>
              <a:t>Liste </a:t>
            </a:r>
            <a:br>
              <a:rPr lang="fr-BE" sz="3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fr-BE" sz="3000" dirty="0">
                <a:solidFill>
                  <a:schemeClr val="accent1">
                    <a:lumMod val="75000"/>
                  </a:schemeClr>
                </a:solidFill>
              </a:rPr>
              <a:t>doublement </a:t>
            </a:r>
            <a:br>
              <a:rPr lang="fr-BE" sz="3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fr-BE" sz="3000" dirty="0">
                <a:solidFill>
                  <a:schemeClr val="accent1">
                    <a:lumMod val="75000"/>
                  </a:schemeClr>
                </a:solidFill>
              </a:rPr>
              <a:t>chaînée</a:t>
            </a:r>
          </a:p>
        </p:txBody>
      </p:sp>
    </p:spTree>
    <p:extLst>
      <p:ext uri="{BB962C8B-B14F-4D97-AF65-F5344CB8AC3E}">
        <p14:creationId xmlns:p14="http://schemas.microsoft.com/office/powerpoint/2010/main" val="30436482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Shape 1">
            <a:extLst>
              <a:ext uri="{FF2B5EF4-FFF2-40B4-BE49-F238E27FC236}">
                <a16:creationId xmlns:a16="http://schemas.microsoft.com/office/drawing/2014/main" id="{805EFF65-590B-4B46-9015-4A1B1506843C}"/>
              </a:ext>
            </a:extLst>
          </p:cNvPr>
          <p:cNvSpPr txBox="1"/>
          <p:nvPr/>
        </p:nvSpPr>
        <p:spPr>
          <a:xfrm>
            <a:off x="457380" y="849715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fr-FR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Une</a:t>
            </a:r>
            <a:r>
              <a:rPr lang="fr-FR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fr-FR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liste prend plus de place mémoire qu’une table.</a:t>
            </a:r>
            <a:endParaRPr lang="fr-FR" sz="2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7DE9FE1-7204-59A8-A941-799D9A2EF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17" y="2176130"/>
            <a:ext cx="5572125" cy="16764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7546791-988D-C5D0-3EF2-0CFE335D0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038" y="4303416"/>
            <a:ext cx="2914650" cy="1781175"/>
          </a:xfrm>
          <a:prstGeom prst="rect">
            <a:avLst/>
          </a:prstGeom>
        </p:spPr>
      </p:pic>
      <p:sp>
        <p:nvSpPr>
          <p:cNvPr id="2" name="TextShape 1">
            <a:extLst>
              <a:ext uri="{FF2B5EF4-FFF2-40B4-BE49-F238E27FC236}">
                <a16:creationId xmlns:a16="http://schemas.microsoft.com/office/drawing/2014/main" id="{ADF98955-B50F-4759-8E2D-20CEBAB9E85F}"/>
              </a:ext>
            </a:extLst>
          </p:cNvPr>
          <p:cNvSpPr txBox="1"/>
          <p:nvPr/>
        </p:nvSpPr>
        <p:spPr>
          <a:xfrm>
            <a:off x="457200" y="274680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ArrayDeque</a:t>
            </a:r>
            <a:r>
              <a:rPr lang="fr-FR" sz="3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vs </a:t>
            </a: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ArrayList</a:t>
            </a:r>
            <a:r>
              <a:rPr lang="fr-FR" sz="3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vs </a:t>
            </a: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LinkedList</a:t>
            </a:r>
            <a:endParaRPr lang="fr-FR" sz="36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6807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Shape 1">
            <a:extLst>
              <a:ext uri="{FF2B5EF4-FFF2-40B4-BE49-F238E27FC236}">
                <a16:creationId xmlns:a16="http://schemas.microsoft.com/office/drawing/2014/main" id="{805EFF65-590B-4B46-9015-4A1B1506843C}"/>
              </a:ext>
            </a:extLst>
          </p:cNvPr>
          <p:cNvSpPr txBox="1"/>
          <p:nvPr/>
        </p:nvSpPr>
        <p:spPr>
          <a:xfrm>
            <a:off x="457200" y="1803327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fr-FR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La </a:t>
            </a:r>
            <a:r>
              <a:rPr lang="fr-FR" sz="28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LinkedList</a:t>
            </a:r>
            <a:r>
              <a:rPr lang="fr-FR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implémente toutes les méthodes de l’interface List et de l’interface </a:t>
            </a:r>
            <a:r>
              <a:rPr lang="fr-FR" sz="28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Deque</a:t>
            </a:r>
            <a:r>
              <a:rPr lang="fr-FR" sz="40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fr-FR" sz="3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MAIS …</a:t>
            </a:r>
            <a:endParaRPr lang="fr-FR" sz="36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4C8620F-8FCE-2158-B898-6CB36D069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85" y="3331974"/>
            <a:ext cx="6219825" cy="2762250"/>
          </a:xfrm>
          <a:prstGeom prst="rect">
            <a:avLst/>
          </a:prstGeom>
        </p:spPr>
      </p:pic>
      <p:sp>
        <p:nvSpPr>
          <p:cNvPr id="2" name="TextShape 1">
            <a:extLst>
              <a:ext uri="{FF2B5EF4-FFF2-40B4-BE49-F238E27FC236}">
                <a16:creationId xmlns:a16="http://schemas.microsoft.com/office/drawing/2014/main" id="{8DAC9888-7303-06B1-BB67-010F673D0D58}"/>
              </a:ext>
            </a:extLst>
          </p:cNvPr>
          <p:cNvSpPr txBox="1"/>
          <p:nvPr/>
        </p:nvSpPr>
        <p:spPr>
          <a:xfrm>
            <a:off x="457200" y="274680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ArrayDeque</a:t>
            </a:r>
            <a:r>
              <a:rPr lang="fr-FR" sz="3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vs </a:t>
            </a: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ArrayList</a:t>
            </a:r>
            <a:r>
              <a:rPr lang="fr-FR" sz="3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vs </a:t>
            </a: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LinkedList</a:t>
            </a:r>
            <a:endParaRPr lang="fr-FR" sz="36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3135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2"/>
          <p:cNvSpPr/>
          <p:nvPr/>
        </p:nvSpPr>
        <p:spPr>
          <a:xfrm>
            <a:off x="5153040" y="1828800"/>
            <a:ext cx="3419280" cy="27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4" name="CustomShape 3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5" name="CustomShape 4"/>
          <p:cNvSpPr/>
          <p:nvPr/>
        </p:nvSpPr>
        <p:spPr>
          <a:xfrm>
            <a:off x="0" y="453384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6" name="CustomShape 5"/>
          <p:cNvSpPr/>
          <p:nvPr/>
        </p:nvSpPr>
        <p:spPr>
          <a:xfrm>
            <a:off x="0" y="793440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353714"/>
              </p:ext>
            </p:extLst>
          </p:nvPr>
        </p:nvGraphicFramePr>
        <p:xfrm>
          <a:off x="874693" y="1056421"/>
          <a:ext cx="7414054" cy="5598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7357">
                  <a:extLst>
                    <a:ext uri="{9D8B030D-6E8A-4147-A177-3AD203B41FA5}">
                      <a16:colId xmlns:a16="http://schemas.microsoft.com/office/drawing/2014/main" val="3357475600"/>
                    </a:ext>
                  </a:extLst>
                </a:gridCol>
                <a:gridCol w="1573618">
                  <a:extLst>
                    <a:ext uri="{9D8B030D-6E8A-4147-A177-3AD203B41FA5}">
                      <a16:colId xmlns:a16="http://schemas.microsoft.com/office/drawing/2014/main" val="86572032"/>
                    </a:ext>
                  </a:extLst>
                </a:gridCol>
                <a:gridCol w="1382233">
                  <a:extLst>
                    <a:ext uri="{9D8B030D-6E8A-4147-A177-3AD203B41FA5}">
                      <a16:colId xmlns:a16="http://schemas.microsoft.com/office/drawing/2014/main" val="3425604964"/>
                    </a:ext>
                  </a:extLst>
                </a:gridCol>
                <a:gridCol w="1420846">
                  <a:extLst>
                    <a:ext uri="{9D8B030D-6E8A-4147-A177-3AD203B41FA5}">
                      <a16:colId xmlns:a16="http://schemas.microsoft.com/office/drawing/2014/main" val="2011201361"/>
                    </a:ext>
                  </a:extLst>
                </a:gridCol>
              </a:tblGrid>
              <a:tr h="508470">
                <a:tc>
                  <a:txBody>
                    <a:bodyPr/>
                    <a:lstStyle/>
                    <a:p>
                      <a:pPr algn="l"/>
                      <a:r>
                        <a:rPr lang="fr-BE" dirty="0"/>
                        <a:t>Opération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dirty="0" err="1"/>
                        <a:t>ArrayDeque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 err="1"/>
                        <a:t>ArrayList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 err="1"/>
                        <a:t>LinkedList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994629"/>
                  </a:ext>
                </a:extLst>
              </a:tr>
              <a:tr h="508470">
                <a:tc>
                  <a:txBody>
                    <a:bodyPr/>
                    <a:lstStyle/>
                    <a:p>
                      <a:pPr algn="l"/>
                      <a:r>
                        <a:rPr lang="fr-BE" dirty="0"/>
                        <a:t>E </a:t>
                      </a:r>
                      <a:r>
                        <a:rPr lang="fr-BE" dirty="0" err="1"/>
                        <a:t>get</a:t>
                      </a:r>
                      <a:r>
                        <a:rPr lang="fr-BE" dirty="0"/>
                        <a:t> 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fr-BE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805544"/>
                  </a:ext>
                </a:extLst>
              </a:tr>
              <a:tr h="2454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set 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index, 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337345"/>
                  </a:ext>
                </a:extLst>
              </a:tr>
              <a:tr h="2987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add</a:t>
                      </a:r>
                      <a:r>
                        <a:rPr lang="fr-BE" dirty="0"/>
                        <a:t>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index, 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516952"/>
                  </a:ext>
                </a:extLst>
              </a:tr>
              <a:tr h="202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</a:t>
                      </a:r>
                      <a:r>
                        <a:rPr lang="fr-BE" dirty="0" err="1"/>
                        <a:t>remove</a:t>
                      </a:r>
                      <a:r>
                        <a:rPr lang="fr-BE" dirty="0"/>
                        <a:t>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272223"/>
                  </a:ext>
                </a:extLst>
              </a:tr>
              <a:tr h="202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sz="8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7122213"/>
                  </a:ext>
                </a:extLst>
              </a:tr>
              <a:tr h="47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addFirst</a:t>
                      </a:r>
                      <a:r>
                        <a:rPr lang="fr-BE" dirty="0"/>
                        <a:t> (E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32215"/>
                  </a:ext>
                </a:extLst>
              </a:tr>
              <a:tr h="47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</a:t>
                      </a:r>
                      <a:r>
                        <a:rPr lang="fr-BE" dirty="0" err="1"/>
                        <a:t>removeFirst</a:t>
                      </a:r>
                      <a:r>
                        <a:rPr lang="fr-BE" dirty="0"/>
                        <a:t> 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0032330"/>
                  </a:ext>
                </a:extLst>
              </a:tr>
              <a:tr h="47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addLast</a:t>
                      </a:r>
                      <a:r>
                        <a:rPr lang="fr-BE" dirty="0"/>
                        <a:t>(E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075031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</a:t>
                      </a:r>
                      <a:r>
                        <a:rPr lang="fr-BE" dirty="0" err="1"/>
                        <a:t>removeLast</a:t>
                      </a:r>
                      <a:r>
                        <a:rPr lang="fr-BE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409391"/>
                  </a:ext>
                </a:extLst>
              </a:tr>
              <a:tr h="200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266375"/>
                  </a:ext>
                </a:extLst>
              </a:tr>
              <a:tr h="508470">
                <a:tc>
                  <a:txBody>
                    <a:bodyPr/>
                    <a:lstStyle/>
                    <a:p>
                      <a:pPr algn="l"/>
                      <a:r>
                        <a:rPr lang="fr-BE" dirty="0" err="1">
                          <a:solidFill>
                            <a:schemeClr val="tx1"/>
                          </a:solidFill>
                        </a:rPr>
                        <a:t>boolean</a:t>
                      </a:r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BE" dirty="0" err="1">
                          <a:solidFill>
                            <a:schemeClr val="tx1"/>
                          </a:solidFill>
                        </a:rPr>
                        <a:t>contains</a:t>
                      </a:r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 (Object 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fr-BE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609290"/>
                  </a:ext>
                </a:extLst>
              </a:tr>
            </a:tbl>
          </a:graphicData>
        </a:graphic>
      </p:graphicFrame>
      <p:sp>
        <p:nvSpPr>
          <p:cNvPr id="3" name="TextShape 1">
            <a:extLst>
              <a:ext uri="{FF2B5EF4-FFF2-40B4-BE49-F238E27FC236}">
                <a16:creationId xmlns:a16="http://schemas.microsoft.com/office/drawing/2014/main" id="{D061AF5E-DBEC-B9F2-1054-FF7010398A1D}"/>
              </a:ext>
            </a:extLst>
          </p:cNvPr>
          <p:cNvSpPr txBox="1"/>
          <p:nvPr/>
        </p:nvSpPr>
        <p:spPr>
          <a:xfrm>
            <a:off x="1321981" y="6291416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JAVA 20</a:t>
            </a:r>
          </a:p>
        </p:txBody>
      </p:sp>
      <p:sp>
        <p:nvSpPr>
          <p:cNvPr id="2" name="TextShape 1">
            <a:extLst>
              <a:ext uri="{FF2B5EF4-FFF2-40B4-BE49-F238E27FC236}">
                <a16:creationId xmlns:a16="http://schemas.microsoft.com/office/drawing/2014/main" id="{0C32B5EB-8ABF-6FE3-BEC1-8A06A02C74AB}"/>
              </a:ext>
            </a:extLst>
          </p:cNvPr>
          <p:cNvSpPr txBox="1"/>
          <p:nvPr/>
        </p:nvSpPr>
        <p:spPr>
          <a:xfrm>
            <a:off x="609600" y="427080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ArrayDeque</a:t>
            </a:r>
            <a:r>
              <a:rPr lang="fr-FR" sz="3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vs </a:t>
            </a: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ArrayList</a:t>
            </a:r>
            <a:r>
              <a:rPr lang="fr-FR" sz="3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vs </a:t>
            </a: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LinkedList</a:t>
            </a:r>
            <a:endParaRPr lang="fr-FR" sz="36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96697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2"/>
          <p:cNvSpPr/>
          <p:nvPr/>
        </p:nvSpPr>
        <p:spPr>
          <a:xfrm>
            <a:off x="5153040" y="1828800"/>
            <a:ext cx="3419280" cy="27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4" name="CustomShape 3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5" name="CustomShape 4"/>
          <p:cNvSpPr/>
          <p:nvPr/>
        </p:nvSpPr>
        <p:spPr>
          <a:xfrm>
            <a:off x="0" y="453384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6" name="CustomShape 5"/>
          <p:cNvSpPr/>
          <p:nvPr/>
        </p:nvSpPr>
        <p:spPr>
          <a:xfrm>
            <a:off x="0" y="793440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069261"/>
              </p:ext>
            </p:extLst>
          </p:nvPr>
        </p:nvGraphicFramePr>
        <p:xfrm>
          <a:off x="874693" y="1029840"/>
          <a:ext cx="7414054" cy="5598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7357">
                  <a:extLst>
                    <a:ext uri="{9D8B030D-6E8A-4147-A177-3AD203B41FA5}">
                      <a16:colId xmlns:a16="http://schemas.microsoft.com/office/drawing/2014/main" val="3357475600"/>
                    </a:ext>
                  </a:extLst>
                </a:gridCol>
                <a:gridCol w="1573618">
                  <a:extLst>
                    <a:ext uri="{9D8B030D-6E8A-4147-A177-3AD203B41FA5}">
                      <a16:colId xmlns:a16="http://schemas.microsoft.com/office/drawing/2014/main" val="86572032"/>
                    </a:ext>
                  </a:extLst>
                </a:gridCol>
                <a:gridCol w="1382233">
                  <a:extLst>
                    <a:ext uri="{9D8B030D-6E8A-4147-A177-3AD203B41FA5}">
                      <a16:colId xmlns:a16="http://schemas.microsoft.com/office/drawing/2014/main" val="3425604964"/>
                    </a:ext>
                  </a:extLst>
                </a:gridCol>
                <a:gridCol w="1420846">
                  <a:extLst>
                    <a:ext uri="{9D8B030D-6E8A-4147-A177-3AD203B41FA5}">
                      <a16:colId xmlns:a16="http://schemas.microsoft.com/office/drawing/2014/main" val="2011201361"/>
                    </a:ext>
                  </a:extLst>
                </a:gridCol>
              </a:tblGrid>
              <a:tr h="508470">
                <a:tc>
                  <a:txBody>
                    <a:bodyPr/>
                    <a:lstStyle/>
                    <a:p>
                      <a:pPr algn="l"/>
                      <a:r>
                        <a:rPr lang="fr-BE" dirty="0"/>
                        <a:t>Opération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dirty="0" err="1"/>
                        <a:t>ArrayDeque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 err="1"/>
                        <a:t>ArrayList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 err="1"/>
                        <a:t>LinkedList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994629"/>
                  </a:ext>
                </a:extLst>
              </a:tr>
              <a:tr h="508470">
                <a:tc>
                  <a:txBody>
                    <a:bodyPr/>
                    <a:lstStyle/>
                    <a:p>
                      <a:pPr algn="l"/>
                      <a:r>
                        <a:rPr lang="fr-BE" dirty="0"/>
                        <a:t>E </a:t>
                      </a:r>
                      <a:r>
                        <a:rPr lang="fr-BE" dirty="0" err="1"/>
                        <a:t>get</a:t>
                      </a:r>
                      <a:r>
                        <a:rPr lang="fr-BE" dirty="0"/>
                        <a:t> 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fr-BE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805544"/>
                  </a:ext>
                </a:extLst>
              </a:tr>
              <a:tr h="2454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set 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index, 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337345"/>
                  </a:ext>
                </a:extLst>
              </a:tr>
              <a:tr h="2987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add</a:t>
                      </a:r>
                      <a:r>
                        <a:rPr lang="fr-BE" dirty="0"/>
                        <a:t>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index, 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516952"/>
                  </a:ext>
                </a:extLst>
              </a:tr>
              <a:tr h="202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</a:t>
                      </a:r>
                      <a:r>
                        <a:rPr lang="fr-BE" dirty="0" err="1"/>
                        <a:t>remove</a:t>
                      </a:r>
                      <a:r>
                        <a:rPr lang="fr-BE" dirty="0"/>
                        <a:t>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272223"/>
                  </a:ext>
                </a:extLst>
              </a:tr>
              <a:tr h="202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sz="8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7122213"/>
                  </a:ext>
                </a:extLst>
              </a:tr>
              <a:tr h="47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addFirst</a:t>
                      </a:r>
                      <a:r>
                        <a:rPr lang="fr-BE" dirty="0"/>
                        <a:t> (E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highlight>
                            <a:srgbClr val="C0C0C0"/>
                          </a:highlight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>
                        <a:highlight>
                          <a:srgbClr val="C0C0C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32215"/>
                  </a:ext>
                </a:extLst>
              </a:tr>
              <a:tr h="47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</a:t>
                      </a:r>
                      <a:r>
                        <a:rPr lang="fr-BE" dirty="0" err="1"/>
                        <a:t>removeFirst</a:t>
                      </a:r>
                      <a:r>
                        <a:rPr lang="fr-BE" dirty="0"/>
                        <a:t> 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highlight>
                            <a:srgbClr val="C0C0C0"/>
                          </a:highlight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>
                        <a:highlight>
                          <a:srgbClr val="C0C0C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0032330"/>
                  </a:ext>
                </a:extLst>
              </a:tr>
              <a:tr h="47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addLast</a:t>
                      </a:r>
                      <a:r>
                        <a:rPr lang="fr-BE" dirty="0"/>
                        <a:t>(E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highlight>
                            <a:srgbClr val="C0C0C0"/>
                          </a:highlight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>
                        <a:highlight>
                          <a:srgbClr val="C0C0C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075031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</a:t>
                      </a:r>
                      <a:r>
                        <a:rPr lang="fr-BE" dirty="0" err="1"/>
                        <a:t>removeLast</a:t>
                      </a:r>
                      <a:r>
                        <a:rPr lang="fr-BE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highlight>
                            <a:srgbClr val="C0C0C0"/>
                          </a:highlight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>
                        <a:highlight>
                          <a:srgbClr val="C0C0C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409391"/>
                  </a:ext>
                </a:extLst>
              </a:tr>
              <a:tr h="200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266375"/>
                  </a:ext>
                </a:extLst>
              </a:tr>
              <a:tr h="508470">
                <a:tc>
                  <a:txBody>
                    <a:bodyPr/>
                    <a:lstStyle/>
                    <a:p>
                      <a:pPr algn="l"/>
                      <a:r>
                        <a:rPr lang="fr-BE" dirty="0" err="1">
                          <a:solidFill>
                            <a:schemeClr val="tx1"/>
                          </a:solidFill>
                        </a:rPr>
                        <a:t>boolean</a:t>
                      </a:r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BE" dirty="0" err="1">
                          <a:solidFill>
                            <a:schemeClr val="tx1"/>
                          </a:solidFill>
                        </a:rPr>
                        <a:t>contains</a:t>
                      </a:r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 (Object 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</a:t>
                      </a:r>
                      <a:endParaRPr lang="fr-BE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dirty="0">
                          <a:sym typeface="Wingdings" panose="05000000000000000000" pitchFamily="2" charset="2"/>
                        </a:rPr>
                        <a:t></a:t>
                      </a:r>
                      <a:endParaRPr lang="fr-BE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609290"/>
                  </a:ext>
                </a:extLst>
              </a:tr>
            </a:tbl>
          </a:graphicData>
        </a:graphic>
      </p:graphicFrame>
      <p:sp>
        <p:nvSpPr>
          <p:cNvPr id="2" name="TextShape 1">
            <a:extLst>
              <a:ext uri="{FF2B5EF4-FFF2-40B4-BE49-F238E27FC236}">
                <a16:creationId xmlns:a16="http://schemas.microsoft.com/office/drawing/2014/main" id="{3B142CCF-1D2E-759C-6633-62A20793BA91}"/>
              </a:ext>
            </a:extLst>
          </p:cNvPr>
          <p:cNvSpPr txBox="1"/>
          <p:nvPr/>
        </p:nvSpPr>
        <p:spPr>
          <a:xfrm>
            <a:off x="609600" y="427080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ArrayDeque</a:t>
            </a:r>
            <a:r>
              <a:rPr lang="fr-FR" sz="3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vs </a:t>
            </a: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ArrayList</a:t>
            </a:r>
            <a:r>
              <a:rPr lang="fr-FR" sz="3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vs </a:t>
            </a: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LinkedList</a:t>
            </a:r>
            <a:endParaRPr lang="fr-FR" sz="36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TextShape 1">
            <a:extLst>
              <a:ext uri="{FF2B5EF4-FFF2-40B4-BE49-F238E27FC236}">
                <a16:creationId xmlns:a16="http://schemas.microsoft.com/office/drawing/2014/main" id="{85B258A6-772B-CB39-BA6A-237A3A74E550}"/>
              </a:ext>
            </a:extLst>
          </p:cNvPr>
          <p:cNvSpPr txBox="1"/>
          <p:nvPr/>
        </p:nvSpPr>
        <p:spPr>
          <a:xfrm>
            <a:off x="1321981" y="6291416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JAVA 21</a:t>
            </a:r>
          </a:p>
        </p:txBody>
      </p:sp>
    </p:spTree>
    <p:extLst>
      <p:ext uri="{BB962C8B-B14F-4D97-AF65-F5344CB8AC3E}">
        <p14:creationId xmlns:p14="http://schemas.microsoft.com/office/powerpoint/2010/main" val="96038303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2"/>
          <p:cNvSpPr/>
          <p:nvPr/>
        </p:nvSpPr>
        <p:spPr>
          <a:xfrm>
            <a:off x="5153040" y="1828800"/>
            <a:ext cx="3419280" cy="27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4" name="CustomShape 3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5" name="CustomShape 4"/>
          <p:cNvSpPr/>
          <p:nvPr/>
        </p:nvSpPr>
        <p:spPr>
          <a:xfrm>
            <a:off x="0" y="453384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6" name="CustomShape 5"/>
          <p:cNvSpPr/>
          <p:nvPr/>
        </p:nvSpPr>
        <p:spPr>
          <a:xfrm>
            <a:off x="0" y="793440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037372"/>
              </p:ext>
            </p:extLst>
          </p:nvPr>
        </p:nvGraphicFramePr>
        <p:xfrm>
          <a:off x="874693" y="1029840"/>
          <a:ext cx="7414054" cy="5015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7357">
                  <a:extLst>
                    <a:ext uri="{9D8B030D-6E8A-4147-A177-3AD203B41FA5}">
                      <a16:colId xmlns:a16="http://schemas.microsoft.com/office/drawing/2014/main" val="3357475600"/>
                    </a:ext>
                  </a:extLst>
                </a:gridCol>
                <a:gridCol w="1573618">
                  <a:extLst>
                    <a:ext uri="{9D8B030D-6E8A-4147-A177-3AD203B41FA5}">
                      <a16:colId xmlns:a16="http://schemas.microsoft.com/office/drawing/2014/main" val="86572032"/>
                    </a:ext>
                  </a:extLst>
                </a:gridCol>
                <a:gridCol w="1382233">
                  <a:extLst>
                    <a:ext uri="{9D8B030D-6E8A-4147-A177-3AD203B41FA5}">
                      <a16:colId xmlns:a16="http://schemas.microsoft.com/office/drawing/2014/main" val="3425604964"/>
                    </a:ext>
                  </a:extLst>
                </a:gridCol>
                <a:gridCol w="1420846">
                  <a:extLst>
                    <a:ext uri="{9D8B030D-6E8A-4147-A177-3AD203B41FA5}">
                      <a16:colId xmlns:a16="http://schemas.microsoft.com/office/drawing/2014/main" val="2011201361"/>
                    </a:ext>
                  </a:extLst>
                </a:gridCol>
              </a:tblGrid>
              <a:tr h="508470">
                <a:tc>
                  <a:txBody>
                    <a:bodyPr/>
                    <a:lstStyle/>
                    <a:p>
                      <a:pPr algn="l"/>
                      <a:r>
                        <a:rPr lang="fr-BE" dirty="0"/>
                        <a:t>Opération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dirty="0" err="1"/>
                        <a:t>ArrayDeque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 err="1"/>
                        <a:t>ArrayList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 err="1"/>
                        <a:t>LinkedList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994629"/>
                  </a:ext>
                </a:extLst>
              </a:tr>
              <a:tr h="508470">
                <a:tc>
                  <a:txBody>
                    <a:bodyPr/>
                    <a:lstStyle/>
                    <a:p>
                      <a:pPr algn="l"/>
                      <a:r>
                        <a:rPr lang="fr-BE" dirty="0"/>
                        <a:t>E </a:t>
                      </a:r>
                      <a:r>
                        <a:rPr lang="fr-BE" dirty="0" err="1"/>
                        <a:t>get</a:t>
                      </a:r>
                      <a:r>
                        <a:rPr lang="fr-BE" dirty="0"/>
                        <a:t> 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805544"/>
                  </a:ext>
                </a:extLst>
              </a:tr>
              <a:tr h="2454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set 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index, 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rgbClr val="FF0000"/>
                          </a:solidFill>
                        </a:rPr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337345"/>
                  </a:ext>
                </a:extLst>
              </a:tr>
              <a:tr h="2987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add</a:t>
                      </a:r>
                      <a:r>
                        <a:rPr lang="fr-BE" dirty="0"/>
                        <a:t>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index, 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516952"/>
                  </a:ext>
                </a:extLst>
              </a:tr>
              <a:tr h="202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</a:t>
                      </a:r>
                      <a:r>
                        <a:rPr lang="fr-BE" dirty="0" err="1"/>
                        <a:t>remove</a:t>
                      </a:r>
                      <a:r>
                        <a:rPr lang="fr-BE" dirty="0"/>
                        <a:t>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272223"/>
                  </a:ext>
                </a:extLst>
              </a:tr>
              <a:tr h="202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sz="8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7122213"/>
                  </a:ext>
                </a:extLst>
              </a:tr>
              <a:tr h="47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addFirst</a:t>
                      </a:r>
                      <a:r>
                        <a:rPr lang="fr-BE" dirty="0"/>
                        <a:t> (E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rgbClr val="FF0000"/>
                          </a:solidFill>
                        </a:rPr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32215"/>
                  </a:ext>
                </a:extLst>
              </a:tr>
              <a:tr h="47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</a:t>
                      </a:r>
                      <a:r>
                        <a:rPr lang="fr-BE" dirty="0" err="1"/>
                        <a:t>removeFirst</a:t>
                      </a:r>
                      <a:r>
                        <a:rPr lang="fr-BE" dirty="0"/>
                        <a:t> 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rgbClr val="FF0000"/>
                          </a:solidFill>
                        </a:rPr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0032330"/>
                  </a:ext>
                </a:extLst>
              </a:tr>
              <a:tr h="47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addLast</a:t>
                      </a:r>
                      <a:r>
                        <a:rPr lang="fr-BE" dirty="0"/>
                        <a:t>(E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075031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</a:t>
                      </a:r>
                      <a:r>
                        <a:rPr lang="fr-BE" dirty="0" err="1"/>
                        <a:t>removeLast</a:t>
                      </a:r>
                      <a:r>
                        <a:rPr lang="fr-BE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409391"/>
                  </a:ext>
                </a:extLst>
              </a:tr>
              <a:tr h="200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266375"/>
                  </a:ext>
                </a:extLst>
              </a:tr>
              <a:tr h="508470">
                <a:tc>
                  <a:txBody>
                    <a:bodyPr/>
                    <a:lstStyle/>
                    <a:p>
                      <a:pPr algn="l"/>
                      <a:r>
                        <a:rPr lang="fr-BE" dirty="0" err="1">
                          <a:solidFill>
                            <a:schemeClr val="tx1"/>
                          </a:solidFill>
                        </a:rPr>
                        <a:t>boolean</a:t>
                      </a:r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BE" dirty="0" err="1">
                          <a:solidFill>
                            <a:schemeClr val="tx1"/>
                          </a:solidFill>
                        </a:rPr>
                        <a:t>contains</a:t>
                      </a:r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 (Object 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609290"/>
                  </a:ext>
                </a:extLst>
              </a:tr>
            </a:tbl>
          </a:graphicData>
        </a:graphic>
      </p:graphicFrame>
      <p:sp>
        <p:nvSpPr>
          <p:cNvPr id="2" name="TextShape 1">
            <a:extLst>
              <a:ext uri="{FF2B5EF4-FFF2-40B4-BE49-F238E27FC236}">
                <a16:creationId xmlns:a16="http://schemas.microsoft.com/office/drawing/2014/main" id="{3B142CCF-1D2E-759C-6633-62A20793BA91}"/>
              </a:ext>
            </a:extLst>
          </p:cNvPr>
          <p:cNvSpPr txBox="1"/>
          <p:nvPr/>
        </p:nvSpPr>
        <p:spPr>
          <a:xfrm>
            <a:off x="609600" y="427080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ArrayDeque</a:t>
            </a:r>
            <a:r>
              <a:rPr lang="fr-FR" sz="3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vs </a:t>
            </a: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ArrayList</a:t>
            </a:r>
            <a:r>
              <a:rPr lang="fr-FR" sz="3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vs </a:t>
            </a: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LinkedList</a:t>
            </a:r>
            <a:endParaRPr lang="fr-FR" sz="36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480119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2"/>
          <p:cNvSpPr/>
          <p:nvPr/>
        </p:nvSpPr>
        <p:spPr>
          <a:xfrm>
            <a:off x="5153040" y="1828800"/>
            <a:ext cx="3419280" cy="27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4" name="CustomShape 3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5" name="CustomShape 4"/>
          <p:cNvSpPr/>
          <p:nvPr/>
        </p:nvSpPr>
        <p:spPr>
          <a:xfrm>
            <a:off x="0" y="453384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6" name="CustomShape 5"/>
          <p:cNvSpPr/>
          <p:nvPr/>
        </p:nvSpPr>
        <p:spPr>
          <a:xfrm>
            <a:off x="0" y="793440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683871"/>
              </p:ext>
            </p:extLst>
          </p:nvPr>
        </p:nvGraphicFramePr>
        <p:xfrm>
          <a:off x="1616533" y="1154349"/>
          <a:ext cx="5840436" cy="4197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7357">
                  <a:extLst>
                    <a:ext uri="{9D8B030D-6E8A-4147-A177-3AD203B41FA5}">
                      <a16:colId xmlns:a16="http://schemas.microsoft.com/office/drawing/2014/main" val="3357475600"/>
                    </a:ext>
                  </a:extLst>
                </a:gridCol>
                <a:gridCol w="1382233">
                  <a:extLst>
                    <a:ext uri="{9D8B030D-6E8A-4147-A177-3AD203B41FA5}">
                      <a16:colId xmlns:a16="http://schemas.microsoft.com/office/drawing/2014/main" val="3425604964"/>
                    </a:ext>
                  </a:extLst>
                </a:gridCol>
                <a:gridCol w="1420846">
                  <a:extLst>
                    <a:ext uri="{9D8B030D-6E8A-4147-A177-3AD203B41FA5}">
                      <a16:colId xmlns:a16="http://schemas.microsoft.com/office/drawing/2014/main" val="2011201361"/>
                    </a:ext>
                  </a:extLst>
                </a:gridCol>
              </a:tblGrid>
              <a:tr h="508470">
                <a:tc>
                  <a:txBody>
                    <a:bodyPr/>
                    <a:lstStyle/>
                    <a:p>
                      <a:pPr algn="l"/>
                      <a:r>
                        <a:rPr lang="fr-BE" dirty="0"/>
                        <a:t>Opération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 err="1"/>
                        <a:t>ArrayList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 err="1"/>
                        <a:t>LinkedList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994629"/>
                  </a:ext>
                </a:extLst>
              </a:tr>
              <a:tr h="508470">
                <a:tc>
                  <a:txBody>
                    <a:bodyPr/>
                    <a:lstStyle/>
                    <a:p>
                      <a:pPr algn="l"/>
                      <a:r>
                        <a:rPr lang="fr-BE" dirty="0"/>
                        <a:t>E </a:t>
                      </a:r>
                      <a:r>
                        <a:rPr lang="fr-BE" dirty="0" err="1"/>
                        <a:t>get</a:t>
                      </a:r>
                      <a:r>
                        <a:rPr lang="fr-BE" dirty="0"/>
                        <a:t> 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O(N/4)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805544"/>
                  </a:ext>
                </a:extLst>
              </a:tr>
              <a:tr h="2454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set 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index, 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rgbClr val="FF0000"/>
                          </a:solidFill>
                        </a:rPr>
                        <a:t>O(N/4)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337345"/>
                  </a:ext>
                </a:extLst>
              </a:tr>
              <a:tr h="2454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1076639"/>
                  </a:ext>
                </a:extLst>
              </a:tr>
              <a:tr h="2987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add</a:t>
                      </a:r>
                      <a:r>
                        <a:rPr lang="fr-BE" dirty="0"/>
                        <a:t>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index, 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O(N/2)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rgbClr val="00B050"/>
                          </a:solidFill>
                        </a:rPr>
                        <a:t>O(N/4)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516952"/>
                  </a:ext>
                </a:extLst>
              </a:tr>
              <a:tr h="202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</a:t>
                      </a:r>
                      <a:r>
                        <a:rPr lang="fr-BE" dirty="0" err="1"/>
                        <a:t>remove</a:t>
                      </a:r>
                      <a:r>
                        <a:rPr lang="fr-BE" dirty="0"/>
                        <a:t>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O(N/2)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rgbClr val="00B050"/>
                          </a:solidFill>
                        </a:rPr>
                        <a:t>O(N/4)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272223"/>
                  </a:ext>
                </a:extLst>
              </a:tr>
              <a:tr h="202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sz="8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7122213"/>
                  </a:ext>
                </a:extLst>
              </a:tr>
              <a:tr h="47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boolean</a:t>
                      </a:r>
                      <a:r>
                        <a:rPr lang="fr-BE" dirty="0"/>
                        <a:t> </a:t>
                      </a:r>
                      <a:r>
                        <a:rPr lang="fr-BE" dirty="0" err="1"/>
                        <a:t>remove</a:t>
                      </a:r>
                      <a:r>
                        <a:rPr lang="fr-BE" dirty="0"/>
                        <a:t>(O </a:t>
                      </a:r>
                      <a:r>
                        <a:rPr lang="fr-BE" dirty="0" err="1"/>
                        <a:t>object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rgbClr val="00B050"/>
                          </a:solidFill>
                        </a:rPr>
                        <a:t>O(N/2)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32215"/>
                  </a:ext>
                </a:extLst>
              </a:tr>
              <a:tr h="133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075031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iterator.remove</a:t>
                      </a:r>
                      <a:r>
                        <a:rPr lang="fr-BE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rgbClr val="FF0000"/>
                          </a:solidFill>
                        </a:rPr>
                        <a:t>O(N/2)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rgbClr val="00B050"/>
                          </a:solidFill>
                        </a:rPr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409391"/>
                  </a:ext>
                </a:extLst>
              </a:tr>
              <a:tr h="200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listIterator</a:t>
                      </a:r>
                      <a:r>
                        <a:rPr lang="fr-BE" dirty="0"/>
                        <a:t>().</a:t>
                      </a:r>
                      <a:r>
                        <a:rPr lang="fr-BE" dirty="0" err="1"/>
                        <a:t>add</a:t>
                      </a:r>
                      <a:r>
                        <a:rPr lang="fr-BE" dirty="0"/>
                        <a:t>(E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rgbClr val="FF0000"/>
                          </a:solidFill>
                        </a:rPr>
                        <a:t>O(N/2)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rgbClr val="00B050"/>
                          </a:solidFill>
                        </a:rPr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266375"/>
                  </a:ext>
                </a:extLst>
              </a:tr>
            </a:tbl>
          </a:graphicData>
        </a:graphic>
      </p:graphicFrame>
      <p:sp>
        <p:nvSpPr>
          <p:cNvPr id="2" name="TextShape 1">
            <a:extLst>
              <a:ext uri="{FF2B5EF4-FFF2-40B4-BE49-F238E27FC236}">
                <a16:creationId xmlns:a16="http://schemas.microsoft.com/office/drawing/2014/main" id="{3B142CCF-1D2E-759C-6633-62A20793BA91}"/>
              </a:ext>
            </a:extLst>
          </p:cNvPr>
          <p:cNvSpPr txBox="1"/>
          <p:nvPr/>
        </p:nvSpPr>
        <p:spPr>
          <a:xfrm>
            <a:off x="609600" y="427080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ArrayList</a:t>
            </a:r>
            <a:r>
              <a:rPr lang="fr-FR" sz="3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vs </a:t>
            </a: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LinkedList</a:t>
            </a:r>
            <a:endParaRPr lang="fr-FR" sz="36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25FE5EE-DA96-869B-CCDE-DA79DE216202}"/>
              </a:ext>
            </a:extLst>
          </p:cNvPr>
          <p:cNvSpPr txBox="1"/>
          <p:nvPr/>
        </p:nvSpPr>
        <p:spPr>
          <a:xfrm>
            <a:off x="121119" y="5517169"/>
            <a:ext cx="88312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58775" indent="-358775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fr-BE" sz="2200" dirty="0"/>
              <a:t>Si nombreux accès en lecture (</a:t>
            </a:r>
            <a:r>
              <a:rPr lang="fr-BE" sz="2200" dirty="0" err="1"/>
              <a:t>get</a:t>
            </a:r>
            <a:r>
              <a:rPr lang="fr-BE" sz="2200" dirty="0"/>
              <a:t>) ou écriture (set) </a:t>
            </a:r>
            <a:r>
              <a:rPr lang="fr-BE" sz="2200" dirty="0">
                <a:sym typeface="Wingdings" panose="05000000000000000000" pitchFamily="2" charset="2"/>
              </a:rPr>
              <a:t>  </a:t>
            </a:r>
            <a:r>
              <a:rPr lang="fr-BE" sz="2200" dirty="0" err="1">
                <a:sym typeface="Wingdings" panose="05000000000000000000" pitchFamily="2" charset="2"/>
              </a:rPr>
              <a:t>ArrayList</a:t>
            </a:r>
            <a:endParaRPr lang="fr-BE" sz="2200" dirty="0">
              <a:sym typeface="Wingdings" panose="05000000000000000000" pitchFamily="2" charset="2"/>
            </a:endParaRPr>
          </a:p>
          <a:p>
            <a:pPr marL="358775" indent="-358775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fr-BE" sz="2200" dirty="0">
                <a:sym typeface="Wingdings" panose="05000000000000000000" pitchFamily="2" charset="2"/>
              </a:rPr>
              <a:t>Si nombreux ajouts (</a:t>
            </a:r>
            <a:r>
              <a:rPr lang="fr-BE" sz="2200" dirty="0" err="1">
                <a:sym typeface="Wingdings" panose="05000000000000000000" pitchFamily="2" charset="2"/>
              </a:rPr>
              <a:t>add</a:t>
            </a:r>
            <a:r>
              <a:rPr lang="fr-BE" sz="2200" dirty="0">
                <a:sym typeface="Wingdings" panose="05000000000000000000" pitchFamily="2" charset="2"/>
              </a:rPr>
              <a:t>) ou suppressions (</a:t>
            </a:r>
            <a:r>
              <a:rPr lang="fr-BE" sz="2200" dirty="0" err="1">
                <a:sym typeface="Wingdings" panose="05000000000000000000" pitchFamily="2" charset="2"/>
              </a:rPr>
              <a:t>remove</a:t>
            </a:r>
            <a:r>
              <a:rPr lang="fr-BE" sz="2200" dirty="0">
                <a:sym typeface="Wingdings" panose="05000000000000000000" pitchFamily="2" charset="2"/>
              </a:rPr>
              <a:t>)   </a:t>
            </a:r>
            <a:r>
              <a:rPr lang="fr-BE" sz="2200" dirty="0" err="1">
                <a:sym typeface="Wingdings" panose="05000000000000000000" pitchFamily="2" charset="2"/>
              </a:rPr>
              <a:t>LinkedList</a:t>
            </a:r>
            <a:endParaRPr lang="fr-BE" sz="2200" dirty="0"/>
          </a:p>
        </p:txBody>
      </p:sp>
    </p:spTree>
    <p:extLst>
      <p:ext uri="{BB962C8B-B14F-4D97-AF65-F5344CB8AC3E}">
        <p14:creationId xmlns:p14="http://schemas.microsoft.com/office/powerpoint/2010/main" val="424549592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2"/>
          <p:cNvSpPr/>
          <p:nvPr/>
        </p:nvSpPr>
        <p:spPr>
          <a:xfrm>
            <a:off x="5153040" y="1828800"/>
            <a:ext cx="3419280" cy="27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4" name="CustomShape 3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5" name="CustomShape 4"/>
          <p:cNvSpPr/>
          <p:nvPr/>
        </p:nvSpPr>
        <p:spPr>
          <a:xfrm>
            <a:off x="0" y="453384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6" name="CustomShape 5"/>
          <p:cNvSpPr/>
          <p:nvPr/>
        </p:nvSpPr>
        <p:spPr>
          <a:xfrm>
            <a:off x="0" y="793440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205469"/>
              </p:ext>
            </p:extLst>
          </p:nvPr>
        </p:nvGraphicFramePr>
        <p:xfrm>
          <a:off x="874693" y="1264081"/>
          <a:ext cx="6887074" cy="372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5258">
                  <a:extLst>
                    <a:ext uri="{9D8B030D-6E8A-4147-A177-3AD203B41FA5}">
                      <a16:colId xmlns:a16="http://schemas.microsoft.com/office/drawing/2014/main" val="3357475600"/>
                    </a:ext>
                  </a:extLst>
                </a:gridCol>
                <a:gridCol w="1609508">
                  <a:extLst>
                    <a:ext uri="{9D8B030D-6E8A-4147-A177-3AD203B41FA5}">
                      <a16:colId xmlns:a16="http://schemas.microsoft.com/office/drawing/2014/main" val="86572032"/>
                    </a:ext>
                  </a:extLst>
                </a:gridCol>
                <a:gridCol w="1622308">
                  <a:extLst>
                    <a:ext uri="{9D8B030D-6E8A-4147-A177-3AD203B41FA5}">
                      <a16:colId xmlns:a16="http://schemas.microsoft.com/office/drawing/2014/main" val="2011201361"/>
                    </a:ext>
                  </a:extLst>
                </a:gridCol>
              </a:tblGrid>
              <a:tr h="508470">
                <a:tc>
                  <a:txBody>
                    <a:bodyPr/>
                    <a:lstStyle/>
                    <a:p>
                      <a:pPr algn="l"/>
                      <a:r>
                        <a:rPr lang="fr-BE" dirty="0"/>
                        <a:t>Opération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dirty="0" err="1"/>
                        <a:t>ArrayDeque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 err="1"/>
                        <a:t>LinkedList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994629"/>
                  </a:ext>
                </a:extLst>
              </a:tr>
              <a:tr h="47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addFirst</a:t>
                      </a:r>
                      <a:r>
                        <a:rPr lang="fr-BE" dirty="0"/>
                        <a:t> (E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32215"/>
                  </a:ext>
                </a:extLst>
              </a:tr>
              <a:tr h="47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</a:t>
                      </a:r>
                      <a:r>
                        <a:rPr lang="fr-BE" dirty="0" err="1"/>
                        <a:t>removeFirst</a:t>
                      </a:r>
                      <a:r>
                        <a:rPr lang="fr-BE" dirty="0"/>
                        <a:t> 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0032330"/>
                  </a:ext>
                </a:extLst>
              </a:tr>
              <a:tr h="475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addLast</a:t>
                      </a:r>
                      <a:r>
                        <a:rPr lang="fr-BE" dirty="0"/>
                        <a:t>(E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075031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 </a:t>
                      </a:r>
                      <a:r>
                        <a:rPr lang="fr-BE" dirty="0" err="1"/>
                        <a:t>removeLast</a:t>
                      </a:r>
                      <a:r>
                        <a:rPr lang="fr-BE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ym typeface="Wingdings" panose="05000000000000000000" pitchFamily="2" charset="2"/>
                        </a:rPr>
                        <a:t>O(1)</a:t>
                      </a:r>
                      <a:endParaRPr lang="fr-BE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409391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removeFirstOccurrence</a:t>
                      </a:r>
                      <a:r>
                        <a:rPr lang="fr-BE" dirty="0"/>
                        <a:t>(Object 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rgbClr val="00B050"/>
                          </a:solidFill>
                        </a:rPr>
                        <a:t>O(N/2)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5579495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removeLastOccurrence</a:t>
                      </a:r>
                      <a:r>
                        <a:rPr lang="fr-BE" dirty="0"/>
                        <a:t>(Object 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>
                          <a:solidFill>
                            <a:srgbClr val="00B050"/>
                          </a:solidFill>
                        </a:rPr>
                        <a:t>O(N/2)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61894"/>
                  </a:ext>
                </a:extLst>
              </a:tr>
              <a:tr h="4477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 err="1"/>
                        <a:t>add</a:t>
                      </a:r>
                      <a:r>
                        <a:rPr lang="fr-BE" dirty="0"/>
                        <a:t>(</a:t>
                      </a:r>
                      <a:r>
                        <a:rPr lang="fr-BE" dirty="0" err="1"/>
                        <a:t>int</a:t>
                      </a:r>
                      <a:r>
                        <a:rPr lang="fr-BE" dirty="0"/>
                        <a:t> index, E </a:t>
                      </a:r>
                      <a:r>
                        <a:rPr lang="fr-BE" dirty="0" err="1"/>
                        <a:t>element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!!!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000" dirty="0"/>
                        <a:t>O(N/4)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7122479"/>
                  </a:ext>
                </a:extLst>
              </a:tr>
            </a:tbl>
          </a:graphicData>
        </a:graphic>
      </p:graphicFrame>
      <p:sp>
        <p:nvSpPr>
          <p:cNvPr id="2" name="TextShape 1">
            <a:extLst>
              <a:ext uri="{FF2B5EF4-FFF2-40B4-BE49-F238E27FC236}">
                <a16:creationId xmlns:a16="http://schemas.microsoft.com/office/drawing/2014/main" id="{3B142CCF-1D2E-759C-6633-62A20793BA91}"/>
              </a:ext>
            </a:extLst>
          </p:cNvPr>
          <p:cNvSpPr txBox="1"/>
          <p:nvPr/>
        </p:nvSpPr>
        <p:spPr>
          <a:xfrm>
            <a:off x="609600" y="427080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ArrayDeque</a:t>
            </a:r>
            <a:r>
              <a:rPr lang="fr-FR" sz="3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vs </a:t>
            </a:r>
            <a:r>
              <a:rPr lang="fr-FR" sz="3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LinkedList</a:t>
            </a:r>
            <a:endParaRPr lang="fr-FR" sz="36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3835517-F74B-7EB9-7C2B-4F8D81E508FC}"/>
              </a:ext>
            </a:extLst>
          </p:cNvPr>
          <p:cNvSpPr txBox="1"/>
          <p:nvPr/>
        </p:nvSpPr>
        <p:spPr>
          <a:xfrm>
            <a:off x="244353" y="5429519"/>
            <a:ext cx="8012130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58775" indent="-358775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BE" sz="2100" dirty="0"/>
              <a:t>Choix par défaut  </a:t>
            </a:r>
            <a:r>
              <a:rPr lang="fr-BE" sz="2100" dirty="0">
                <a:sym typeface="Wingdings" panose="05000000000000000000" pitchFamily="2" charset="2"/>
              </a:rPr>
              <a:t>  </a:t>
            </a:r>
            <a:r>
              <a:rPr lang="fr-BE" sz="2100" dirty="0" err="1">
                <a:sym typeface="Wingdings" panose="05000000000000000000" pitchFamily="2" charset="2"/>
              </a:rPr>
              <a:t>ArrayDeque</a:t>
            </a:r>
            <a:endParaRPr lang="fr-BE" sz="2100" dirty="0">
              <a:sym typeface="Wingdings" panose="05000000000000000000" pitchFamily="2" charset="2"/>
            </a:endParaRPr>
          </a:p>
          <a:p>
            <a:pPr marL="358775" indent="-358775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fr-BE" sz="2100" dirty="0">
                <a:sym typeface="Wingdings" panose="05000000000000000000" pitchFamily="2" charset="2"/>
              </a:rPr>
              <a:t>Si suppressions ou ajouts d’éléments intérieurs    </a:t>
            </a:r>
            <a:r>
              <a:rPr lang="fr-BE" sz="2100" dirty="0" err="1">
                <a:sym typeface="Wingdings" panose="05000000000000000000" pitchFamily="2" charset="2"/>
              </a:rPr>
              <a:t>LinkedList</a:t>
            </a:r>
            <a:endParaRPr lang="fr-BE" sz="2100" dirty="0"/>
          </a:p>
        </p:txBody>
      </p:sp>
    </p:spTree>
    <p:extLst>
      <p:ext uri="{BB962C8B-B14F-4D97-AF65-F5344CB8AC3E}">
        <p14:creationId xmlns:p14="http://schemas.microsoft.com/office/powerpoint/2010/main" val="329777584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2"/>
          <p:cNvSpPr/>
          <p:nvPr/>
        </p:nvSpPr>
        <p:spPr>
          <a:xfrm>
            <a:off x="5153040" y="1828800"/>
            <a:ext cx="3419280" cy="27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4" name="CustomShape 3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5" name="CustomShape 4"/>
          <p:cNvSpPr/>
          <p:nvPr/>
        </p:nvSpPr>
        <p:spPr>
          <a:xfrm>
            <a:off x="0" y="453384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126" name="CustomShape 5"/>
          <p:cNvSpPr/>
          <p:nvPr/>
        </p:nvSpPr>
        <p:spPr>
          <a:xfrm>
            <a:off x="0" y="7934400"/>
            <a:ext cx="9143640" cy="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fr-BE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1CB633B-64EC-4DAD-B4F1-3744BDCC8A55}"/>
              </a:ext>
            </a:extLst>
          </p:cNvPr>
          <p:cNvSpPr txBox="1"/>
          <p:nvPr/>
        </p:nvSpPr>
        <p:spPr>
          <a:xfrm>
            <a:off x="804512" y="6140539"/>
            <a:ext cx="7810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200" dirty="0">
                <a:hlinkClick r:id="rId3"/>
              </a:rPr>
              <a:t>https://web.archive.org/web/20191101213733/http://brianandstuff.com/2016/12/12/java-arraydeque-vs-linkedlist/</a:t>
            </a:r>
            <a:r>
              <a:rPr lang="fr-BE" sz="1200" dirty="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733BCB9-8BB2-4DFD-AA23-F0D24F1B49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9969"/>
            <a:ext cx="9144000" cy="4199790"/>
          </a:xfrm>
          <a:prstGeom prst="rect">
            <a:avLst/>
          </a:prstGeom>
        </p:spPr>
      </p:pic>
      <p:sp>
        <p:nvSpPr>
          <p:cNvPr id="10" name="TextShape 1">
            <a:extLst>
              <a:ext uri="{FF2B5EF4-FFF2-40B4-BE49-F238E27FC236}">
                <a16:creationId xmlns:a16="http://schemas.microsoft.com/office/drawing/2014/main" id="{5A071467-2FB9-422C-B00E-1B81CEC1FE3F}"/>
              </a:ext>
            </a:extLst>
          </p:cNvPr>
          <p:cNvSpPr txBox="1"/>
          <p:nvPr/>
        </p:nvSpPr>
        <p:spPr>
          <a:xfrm>
            <a:off x="457200" y="274680"/>
            <a:ext cx="8229240" cy="727269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fr-FR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ArrayDeque</a:t>
            </a:r>
            <a:r>
              <a:rPr lang="fr-FR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vs </a:t>
            </a:r>
            <a:r>
              <a:rPr lang="fr-FR" sz="44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Linked</a:t>
            </a:r>
            <a:r>
              <a:rPr lang="fr-FR" sz="4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List</a:t>
            </a:r>
            <a:r>
              <a:rPr lang="fr-FR" sz="4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(FIFO)</a:t>
            </a:r>
            <a:endParaRPr lang="fr-FR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600179" y="5349845"/>
            <a:ext cx="1962359" cy="307777"/>
          </a:xfrm>
          <a:prstGeom prst="rect">
            <a:avLst/>
          </a:prstGeom>
          <a:solidFill>
            <a:schemeClr val="bg1"/>
          </a:solidFill>
          <a:ln w="4762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fr-BE" sz="1400" b="1" dirty="0" err="1"/>
              <a:t>Number</a:t>
            </a:r>
            <a:r>
              <a:rPr lang="fr-BE" sz="1400" b="1" dirty="0"/>
              <a:t> of </a:t>
            </a:r>
            <a:r>
              <a:rPr lang="fr-BE" sz="1400" b="1" dirty="0" err="1"/>
              <a:t>elements</a:t>
            </a:r>
            <a:endParaRPr lang="fr-BE" sz="1400" b="1" dirty="0"/>
          </a:p>
        </p:txBody>
      </p:sp>
      <p:sp>
        <p:nvSpPr>
          <p:cNvPr id="11" name="ZoneTexte 10"/>
          <p:cNvSpPr txBox="1"/>
          <p:nvPr/>
        </p:nvSpPr>
        <p:spPr>
          <a:xfrm rot="16200000">
            <a:off x="-360003" y="3299496"/>
            <a:ext cx="10277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BE" sz="1400" b="1" dirty="0"/>
              <a:t>Time (ms)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733BCB9-8BB2-4DFD-AA23-F0D24F1B49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06" t="93796" r="42430" b="1042"/>
          <a:stretch/>
        </p:blipFill>
        <p:spPr>
          <a:xfrm>
            <a:off x="2753725" y="1284084"/>
            <a:ext cx="3655269" cy="61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1727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1406</TotalTime>
  <Words>1142</Words>
  <Application>Microsoft Office PowerPoint</Application>
  <PresentationFormat>Affichage à l'écran (4:3)</PresentationFormat>
  <Paragraphs>249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Courier New</vt:lpstr>
      <vt:lpstr>DejaVu Sans</vt:lpstr>
      <vt:lpstr>Symbol</vt:lpstr>
      <vt:lpstr>Times New Roman</vt:lpstr>
      <vt:lpstr>Wingdings</vt:lpstr>
      <vt:lpstr>Office Theme</vt:lpstr>
      <vt:lpstr>Office Theme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annick</dc:creator>
  <dc:description/>
  <cp:lastModifiedBy>Annick Dupont</cp:lastModifiedBy>
  <cp:revision>256</cp:revision>
  <dcterms:created xsi:type="dcterms:W3CDTF">2014-01-28T19:41:03Z</dcterms:created>
  <dcterms:modified xsi:type="dcterms:W3CDTF">2025-03-11T15:13:37Z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4</vt:i4>
  </property>
  <property fmtid="{D5CDD505-2E9C-101B-9397-08002B2CF9AE}" pid="8" name="PresentationFormat">
    <vt:lpwstr>Affichage à l'écran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32</vt:i4>
  </property>
</Properties>
</file>