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335" r:id="rId2"/>
    <p:sldId id="325" r:id="rId3"/>
    <p:sldId id="328" r:id="rId4"/>
    <p:sldId id="329" r:id="rId5"/>
    <p:sldId id="333" r:id="rId6"/>
    <p:sldId id="332" r:id="rId7"/>
    <p:sldId id="334" r:id="rId8"/>
    <p:sldId id="336" r:id="rId9"/>
    <p:sldId id="337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5D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81763" autoAdjust="0"/>
  </p:normalViewPr>
  <p:slideViewPr>
    <p:cSldViewPr>
      <p:cViewPr varScale="1">
        <p:scale>
          <a:sx n="52" d="100"/>
          <a:sy n="52" d="100"/>
        </p:scale>
        <p:origin x="170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7BCA7-D005-44FF-BC25-C2564CC333BA}" type="datetimeFigureOut">
              <a:rPr lang="fr-BE" smtClean="0"/>
              <a:t>08-02-25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7AD49-8D14-4F4A-9494-38841C058D5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03033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7AD49-8D14-4F4A-9494-38841C058D54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82686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7AD49-8D14-4F4A-9494-38841C058D54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95683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La boucle </a:t>
            </a:r>
            <a:r>
              <a:rPr lang="fr-BE" dirty="0" err="1"/>
              <a:t>foreach</a:t>
            </a:r>
            <a:r>
              <a:rPr lang="fr-BE" dirty="0"/>
              <a:t> a été intégrée depuis la version java 5 (sortie 9/2004)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Elle utilise un itérateur !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7AD49-8D14-4F4A-9494-38841C058D54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50210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Le </a:t>
            </a:r>
            <a:r>
              <a:rPr lang="fr-BE" dirty="0" err="1"/>
              <a:t>foreach</a:t>
            </a:r>
            <a:r>
              <a:rPr lang="fr-BE" dirty="0"/>
              <a:t> est permis uniquement sur des structures de données qui implémente l’interface </a:t>
            </a:r>
            <a:r>
              <a:rPr lang="fr-BE" dirty="0" err="1"/>
              <a:t>Iterable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7AD49-8D14-4F4A-9494-38841C058D54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24884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Interface avec une méthode. Cette méthode renvoie un « </a:t>
            </a:r>
            <a:r>
              <a:rPr lang="fr-BE" dirty="0" err="1"/>
              <a:t>iterator</a:t>
            </a:r>
            <a:r>
              <a:rPr lang="fr-BE" dirty="0"/>
              <a:t> »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7AD49-8D14-4F4A-9494-38841C058D54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45112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L’interface </a:t>
            </a:r>
            <a:r>
              <a:rPr lang="fr-BE" dirty="0" err="1"/>
              <a:t>Iterator</a:t>
            </a:r>
            <a:r>
              <a:rPr lang="fr-BE" dirty="0"/>
              <a:t> contient 2 méthodes (à implémenter)</a:t>
            </a:r>
          </a:p>
          <a:p>
            <a:r>
              <a:rPr lang="fr-BE" dirty="0"/>
              <a:t>(La méthode </a:t>
            </a:r>
            <a:r>
              <a:rPr lang="fr-BE" dirty="0" err="1"/>
              <a:t>remove</a:t>
            </a:r>
            <a:r>
              <a:rPr lang="fr-BE" dirty="0"/>
              <a:t>() est « default » </a:t>
            </a:r>
            <a:r>
              <a:rPr lang="fr-BE" dirty="0">
                <a:sym typeface="Wingdings" panose="05000000000000000000" pitchFamily="2" charset="2"/>
              </a:rPr>
              <a:t> on n’est pas obligé de l’implémenter. Par default, elle renvoie une exception de type </a:t>
            </a:r>
            <a:r>
              <a:rPr lang="fr-BE" dirty="0" err="1">
                <a:sym typeface="Wingdings" panose="05000000000000000000" pitchFamily="2" charset="2"/>
              </a:rPr>
              <a:t>UnsupportedOperationException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/>
              <a:t>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7AD49-8D14-4F4A-9494-38841C058D54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25870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Petit coup d’œil sur la classe </a:t>
            </a:r>
            <a:r>
              <a:rPr lang="fr-BE" dirty="0" err="1"/>
              <a:t>ArrayList</a:t>
            </a:r>
            <a:r>
              <a:rPr lang="fr-BE" dirty="0"/>
              <a:t>.</a:t>
            </a:r>
          </a:p>
          <a:p>
            <a:r>
              <a:rPr lang="fr-BE" dirty="0"/>
              <a:t>La classe </a:t>
            </a:r>
            <a:r>
              <a:rPr lang="fr-BE" dirty="0" err="1"/>
              <a:t>ArrayList</a:t>
            </a:r>
            <a:r>
              <a:rPr lang="fr-BE" dirty="0"/>
              <a:t> implémente l’interface </a:t>
            </a:r>
            <a:r>
              <a:rPr lang="fr-BE" dirty="0" err="1"/>
              <a:t>Iterable</a:t>
            </a:r>
            <a:r>
              <a:rPr lang="fr-BE" dirty="0"/>
              <a:t> </a:t>
            </a:r>
            <a:r>
              <a:rPr lang="fr-BE" dirty="0">
                <a:sym typeface="Wingdings" panose="05000000000000000000" pitchFamily="2" charset="2"/>
              </a:rPr>
              <a:t> on peut utiliser le </a:t>
            </a:r>
            <a:r>
              <a:rPr lang="fr-BE" dirty="0" err="1">
                <a:sym typeface="Wingdings" panose="05000000000000000000" pitchFamily="2" charset="2"/>
              </a:rPr>
              <a:t>foreach</a:t>
            </a:r>
            <a:r>
              <a:rPr lang="fr-BE" dirty="0">
                <a:sym typeface="Wingdings" panose="05000000000000000000" pitchFamily="2" charset="2"/>
              </a:rPr>
              <a:t> !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7AD49-8D14-4F4A-9494-38841C058D54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1628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Classe demandée en exercices.</a:t>
            </a:r>
          </a:p>
          <a:p>
            <a:r>
              <a:rPr lang="fr-BE" dirty="0"/>
              <a:t>On voudrait pouvoir parcourir la liste via la boucle </a:t>
            </a:r>
            <a:r>
              <a:rPr lang="fr-BE" dirty="0" err="1"/>
              <a:t>foreach</a:t>
            </a:r>
            <a:r>
              <a:rPr lang="fr-BE" dirty="0"/>
              <a:t>.</a:t>
            </a:r>
          </a:p>
          <a:p>
            <a:r>
              <a:rPr lang="fr-BE" dirty="0" err="1"/>
              <a:t>extends</a:t>
            </a:r>
            <a:r>
              <a:rPr lang="fr-BE" dirty="0"/>
              <a:t> </a:t>
            </a:r>
            <a:r>
              <a:rPr lang="fr-BE" dirty="0" err="1"/>
              <a:t>Iterable</a:t>
            </a:r>
            <a:r>
              <a:rPr lang="fr-BE" dirty="0"/>
              <a:t>&lt;E&gt; </a:t>
            </a:r>
            <a:r>
              <a:rPr lang="fr-BE" dirty="0">
                <a:sym typeface="Wingdings" panose="05000000000000000000" pitchFamily="2" charset="2"/>
              </a:rPr>
              <a:t> obligatoire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7AD49-8D14-4F4A-9494-38841C058D54}" type="slidenum">
              <a:rPr lang="fr-BE" smtClean="0"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20814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@Override </a:t>
            </a:r>
            <a:r>
              <a:rPr lang="fr-BE" dirty="0">
                <a:sym typeface="Wingdings" panose="05000000000000000000" pitchFamily="2" charset="2"/>
              </a:rPr>
              <a:t> méthode </a:t>
            </a:r>
            <a:r>
              <a:rPr lang="fr-BE" dirty="0" err="1">
                <a:sym typeface="Wingdings" panose="05000000000000000000" pitchFamily="2" charset="2"/>
              </a:rPr>
              <a:t>iterator</a:t>
            </a:r>
            <a:r>
              <a:rPr lang="fr-BE" dirty="0">
                <a:sym typeface="Wingdings" panose="05000000000000000000" pitchFamily="2" charset="2"/>
              </a:rPr>
              <a:t>() est imposée par l’interface </a:t>
            </a:r>
            <a:r>
              <a:rPr lang="fr-BE" dirty="0" err="1">
                <a:sym typeface="Wingdings" panose="05000000000000000000" pitchFamily="2" charset="2"/>
              </a:rPr>
              <a:t>Iterable</a:t>
            </a:r>
            <a:r>
              <a:rPr lang="fr-BE" dirty="0">
                <a:sym typeface="Wingdings" panose="05000000000000000000" pitchFamily="2" charset="2"/>
              </a:rPr>
              <a:t>. </a:t>
            </a:r>
          </a:p>
          <a:p>
            <a:r>
              <a:rPr lang="fr-BE" dirty="0" err="1">
                <a:sym typeface="Wingdings" panose="05000000000000000000" pitchFamily="2" charset="2"/>
              </a:rPr>
              <a:t>Implements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Iterator</a:t>
            </a:r>
            <a:r>
              <a:rPr lang="fr-BE" dirty="0">
                <a:sym typeface="Wingdings" panose="05000000000000000000" pitchFamily="2" charset="2"/>
              </a:rPr>
              <a:t>  obligatoire car la méthode </a:t>
            </a:r>
            <a:r>
              <a:rPr lang="fr-BE" dirty="0" err="1">
                <a:sym typeface="Wingdings" panose="05000000000000000000" pitchFamily="2" charset="2"/>
              </a:rPr>
              <a:t>iterator</a:t>
            </a:r>
            <a:r>
              <a:rPr lang="fr-BE" dirty="0">
                <a:sym typeface="Wingdings" panose="05000000000000000000" pitchFamily="2" charset="2"/>
              </a:rPr>
              <a:t>() doit renvoyer un </a:t>
            </a:r>
            <a:r>
              <a:rPr lang="fr-BE" dirty="0" err="1">
                <a:sym typeface="Wingdings" panose="05000000000000000000" pitchFamily="2" charset="2"/>
              </a:rPr>
              <a:t>Iterator</a:t>
            </a:r>
            <a:r>
              <a:rPr lang="fr-BE" dirty="0">
                <a:sym typeface="Wingdings" panose="05000000000000000000" pitchFamily="2" charset="2"/>
              </a:rPr>
              <a:t>.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7AD49-8D14-4F4A-9494-38841C058D54}" type="slidenum">
              <a:rPr lang="fr-BE" smtClean="0"/>
              <a:t>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03381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74586-5FCD-48CD-BF3E-A032444F8F93}" type="datetimeFigureOut">
              <a:rPr lang="fr-BE" smtClean="0"/>
              <a:t>08-02-25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D413-9C6F-40BE-B709-162017B2DB5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99319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74586-5FCD-48CD-BF3E-A032444F8F93}" type="datetimeFigureOut">
              <a:rPr lang="fr-BE" smtClean="0"/>
              <a:t>08-02-25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D413-9C6F-40BE-B709-162017B2DB5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18362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74586-5FCD-48CD-BF3E-A032444F8F93}" type="datetimeFigureOut">
              <a:rPr lang="fr-BE" smtClean="0"/>
              <a:t>08-02-25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D413-9C6F-40BE-B709-162017B2DB5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12000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74586-5FCD-48CD-BF3E-A032444F8F93}" type="datetimeFigureOut">
              <a:rPr lang="fr-BE" smtClean="0"/>
              <a:t>08-02-25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D413-9C6F-40BE-B709-162017B2DB5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4359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74586-5FCD-48CD-BF3E-A032444F8F93}" type="datetimeFigureOut">
              <a:rPr lang="fr-BE" smtClean="0"/>
              <a:t>08-02-25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D413-9C6F-40BE-B709-162017B2DB5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97183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74586-5FCD-48CD-BF3E-A032444F8F93}" type="datetimeFigureOut">
              <a:rPr lang="fr-BE" smtClean="0"/>
              <a:t>08-02-25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D413-9C6F-40BE-B709-162017B2DB5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14811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74586-5FCD-48CD-BF3E-A032444F8F93}" type="datetimeFigureOut">
              <a:rPr lang="fr-BE" smtClean="0"/>
              <a:t>08-02-25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D413-9C6F-40BE-B709-162017B2DB5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0580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74586-5FCD-48CD-BF3E-A032444F8F93}" type="datetimeFigureOut">
              <a:rPr lang="fr-BE" smtClean="0"/>
              <a:t>08-02-25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D413-9C6F-40BE-B709-162017B2DB5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06009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74586-5FCD-48CD-BF3E-A032444F8F93}" type="datetimeFigureOut">
              <a:rPr lang="fr-BE" smtClean="0"/>
              <a:t>08-02-25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D413-9C6F-40BE-B709-162017B2DB5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80710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74586-5FCD-48CD-BF3E-A032444F8F93}" type="datetimeFigureOut">
              <a:rPr lang="fr-BE" smtClean="0"/>
              <a:t>08-02-25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D413-9C6F-40BE-B709-162017B2DB5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25081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74586-5FCD-48CD-BF3E-A032444F8F93}" type="datetimeFigureOut">
              <a:rPr lang="fr-BE" smtClean="0"/>
              <a:t>08-02-25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D413-9C6F-40BE-B709-162017B2DB5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558257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74586-5FCD-48CD-BF3E-A032444F8F93}" type="datetimeFigureOut">
              <a:rPr lang="fr-BE" smtClean="0"/>
              <a:t>08-02-25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D413-9C6F-40BE-B709-162017B2DB5F}" type="slidenum">
              <a:rPr lang="fr-BE" smtClean="0"/>
              <a:t>‹N°›</a:t>
            </a:fld>
            <a:endParaRPr lang="fr-BE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1855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74586-5FCD-48CD-BF3E-A032444F8F93}" type="datetimeFigureOut">
              <a:rPr lang="fr-BE" smtClean="0"/>
              <a:t>08-02-25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D413-9C6F-40BE-B709-162017B2DB5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98736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74586-5FCD-48CD-BF3E-A032444F8F93}" type="datetimeFigureOut">
              <a:rPr lang="fr-BE" smtClean="0"/>
              <a:t>08-02-25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D413-9C6F-40BE-B709-162017B2DB5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47246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74586-5FCD-48CD-BF3E-A032444F8F93}" type="datetimeFigureOut">
              <a:rPr lang="fr-BE" smtClean="0"/>
              <a:t>08-02-25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D413-9C6F-40BE-B709-162017B2DB5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39771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74586-5FCD-48CD-BF3E-A032444F8F93}" type="datetimeFigureOut">
              <a:rPr lang="fr-BE" smtClean="0"/>
              <a:t>08-02-25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D413-9C6F-40BE-B709-162017B2DB5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046198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74586-5FCD-48CD-BF3E-A032444F8F93}" type="datetimeFigureOut">
              <a:rPr lang="fr-BE" smtClean="0"/>
              <a:t>08-02-25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D413-9C6F-40BE-B709-162017B2DB5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461428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74586-5FCD-48CD-BF3E-A032444F8F93}" type="datetimeFigureOut">
              <a:rPr lang="fr-BE" smtClean="0"/>
              <a:t>08-02-25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0D413-9C6F-40BE-B709-162017B2DB5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78012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DF74586-5FCD-48CD-BF3E-A032444F8F93}" type="datetimeFigureOut">
              <a:rPr lang="fr-BE" smtClean="0"/>
              <a:t>08-02-25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F00D413-9C6F-40BE-B709-162017B2DB5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7833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87F7CE12-E5E0-10A0-3558-AA213847D435}"/>
              </a:ext>
            </a:extLst>
          </p:cNvPr>
          <p:cNvSpPr txBox="1">
            <a:spLocks/>
          </p:cNvSpPr>
          <p:nvPr/>
        </p:nvSpPr>
        <p:spPr>
          <a:xfrm>
            <a:off x="2555776" y="2132856"/>
            <a:ext cx="4752528" cy="25202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BE" sz="4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Itérateur</a:t>
            </a:r>
          </a:p>
          <a:p>
            <a:pPr marL="0" indent="0">
              <a:buNone/>
            </a:pPr>
            <a:r>
              <a:rPr lang="fr-BE" sz="4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boucle </a:t>
            </a:r>
            <a:r>
              <a:rPr lang="fr-BE" sz="48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foreach</a:t>
            </a:r>
            <a:endParaRPr lang="fr-BE" sz="4800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028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0D6DB593-5C78-6979-D719-03AEDDDF5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41" y="431899"/>
            <a:ext cx="8848725" cy="80962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2F93C5F-31EC-4A4E-F4ED-0EB2C04F0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37" y="1889637"/>
            <a:ext cx="5429250" cy="2228850"/>
          </a:xfrm>
          <a:prstGeom prst="rect">
            <a:avLst/>
          </a:prstGeom>
        </p:spPr>
      </p:pic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D291AA16-B752-3C2F-0494-B60C7A010C4D}"/>
              </a:ext>
            </a:extLst>
          </p:cNvPr>
          <p:cNvSpPr txBox="1">
            <a:spLocks/>
          </p:cNvSpPr>
          <p:nvPr/>
        </p:nvSpPr>
        <p:spPr>
          <a:xfrm>
            <a:off x="1547664" y="4214688"/>
            <a:ext cx="6840760" cy="18066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BE" sz="2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 « </a:t>
            </a:r>
            <a:r>
              <a:rPr lang="fr-BE" sz="28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foreach</a:t>
            </a:r>
            <a:r>
              <a:rPr lang="fr-BE" sz="2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» permet de parcourir les éléments de la structure de données.</a:t>
            </a:r>
          </a:p>
          <a:p>
            <a:pPr marL="0" indent="0">
              <a:buNone/>
            </a:pPr>
            <a:r>
              <a:rPr lang="fr-BE" sz="2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Dans cet exemple : on parcourt les entiers qui se trouvent dans une liste de type </a:t>
            </a:r>
            <a:r>
              <a:rPr lang="fr-BE" sz="28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ArrayList</a:t>
            </a:r>
            <a:endParaRPr lang="fr-BE" sz="2800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933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92F93C5F-31EC-4A4E-F4ED-0EB2C04F0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" y="1889637"/>
            <a:ext cx="5429250" cy="222885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F1B57A0-56DB-4A5C-46FF-213804D8B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37" y="4293096"/>
            <a:ext cx="6524625" cy="2476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D1B2FE-11DC-94AD-BA99-FDD005686BC4}"/>
              </a:ext>
            </a:extLst>
          </p:cNvPr>
          <p:cNvSpPr txBox="1">
            <a:spLocks/>
          </p:cNvSpPr>
          <p:nvPr/>
        </p:nvSpPr>
        <p:spPr>
          <a:xfrm>
            <a:off x="5589740" y="2780928"/>
            <a:ext cx="3640311" cy="80962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BE" sz="2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depuis la version java 5 (2005)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69BAD0B-41FA-2672-CDBB-48E6D43607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241" y="431899"/>
            <a:ext cx="884872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725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92F93C5F-31EC-4A4E-F4ED-0EB2C04F0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" y="1889637"/>
            <a:ext cx="5429250" cy="2228850"/>
          </a:xfrm>
          <a:prstGeom prst="rect">
            <a:avLst/>
          </a:prstGeom>
        </p:spPr>
      </p:pic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D291AA16-B752-3C2F-0494-B60C7A010C4D}"/>
              </a:ext>
            </a:extLst>
          </p:cNvPr>
          <p:cNvSpPr txBox="1">
            <a:spLocks/>
          </p:cNvSpPr>
          <p:nvPr/>
        </p:nvSpPr>
        <p:spPr>
          <a:xfrm>
            <a:off x="1547664" y="4214688"/>
            <a:ext cx="6552728" cy="1587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BE" sz="2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 « </a:t>
            </a:r>
            <a:r>
              <a:rPr lang="fr-BE" sz="28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foreach</a:t>
            </a:r>
            <a:r>
              <a:rPr lang="fr-BE" sz="2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» parcourt la liste selon l’ordre de l’itérateur renvoyé par la méthode </a:t>
            </a:r>
            <a:r>
              <a:rPr lang="fr-BE" sz="2800" i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iterator</a:t>
            </a:r>
            <a:r>
              <a:rPr lang="fr-BE" sz="2800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fr-BE" sz="2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l’interface </a:t>
            </a:r>
            <a:r>
              <a:rPr lang="fr-BE" sz="2800" i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Iterable</a:t>
            </a:r>
            <a:endParaRPr lang="fr-BE" sz="2800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85956E0-A057-29D1-920C-E31A25D39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41" y="431899"/>
            <a:ext cx="884872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715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8AF6D216-2E32-CD67-EF43-B7451A927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476672"/>
            <a:ext cx="3552825" cy="48577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4396C90-12D4-E5B9-AD3D-8A14A17D94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7" y="1340768"/>
            <a:ext cx="4320480" cy="266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39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FDC2A106-D481-3068-8D90-BDBB97962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49" y="836712"/>
            <a:ext cx="6306207" cy="520301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0EC936A-7B1B-9C40-2A37-4E288258B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332656"/>
            <a:ext cx="320992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234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BE29E030-9AA5-91A6-BD0E-91278008C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38" y="548680"/>
            <a:ext cx="9144000" cy="240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88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CDABC7B4-B00D-1BF7-62EA-25C0DC4ED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3" y="1700808"/>
            <a:ext cx="7498016" cy="79171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78B36F0-3002-6A5B-06C7-5CB1138E5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3172846"/>
            <a:ext cx="8604448" cy="512308"/>
          </a:xfrm>
          <a:prstGeom prst="rect">
            <a:avLst/>
          </a:prstGeom>
        </p:spPr>
      </p:pic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EA9C9877-B1A6-F49C-6C3B-17914ADC47CB}"/>
              </a:ext>
            </a:extLst>
          </p:cNvPr>
          <p:cNvSpPr txBox="1">
            <a:spLocks/>
          </p:cNvSpPr>
          <p:nvPr/>
        </p:nvSpPr>
        <p:spPr>
          <a:xfrm>
            <a:off x="1217390" y="237281"/>
            <a:ext cx="6378946" cy="12961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BE" sz="4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Votre classe </a:t>
            </a:r>
            <a:r>
              <a:rPr lang="fr-BE" sz="4000" i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ListeSimpleImpl</a:t>
            </a:r>
            <a:endParaRPr lang="fr-BE" sz="4000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F65B3819-38E3-7779-44D5-06B921C1250C}"/>
              </a:ext>
            </a:extLst>
          </p:cNvPr>
          <p:cNvSpPr txBox="1">
            <a:spLocks/>
          </p:cNvSpPr>
          <p:nvPr/>
        </p:nvSpPr>
        <p:spPr>
          <a:xfrm>
            <a:off x="1217390" y="237281"/>
            <a:ext cx="6378946" cy="12961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BE" sz="4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Votre classe </a:t>
            </a:r>
            <a:r>
              <a:rPr lang="fr-BE" sz="4000" i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ListeSimpleImpl</a:t>
            </a:r>
            <a:endParaRPr lang="fr-BE" sz="4000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6D1C62E-87AC-21CF-7E4F-DDD8F727F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196752"/>
            <a:ext cx="4331281" cy="151216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3AC8974-1337-4A89-CF28-493CF911E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3429000"/>
            <a:ext cx="7125986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10026"/>
      </p:ext>
    </p:extLst>
  </p:cSld>
  <p:clrMapOvr>
    <a:masterClrMapping/>
  </p:clrMapOvr>
</p:sld>
</file>

<file path=ppt/theme/theme1.xml><?xml version="1.0" encoding="utf-8"?>
<a:theme xmlns:a="http://schemas.openxmlformats.org/drawingml/2006/main" name="Ronds dans l’eau">
  <a:themeElements>
    <a:clrScheme name="Ronds dans l’eau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Ronds dans l’eau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onds dans l’eau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393</TotalTime>
  <Words>231</Words>
  <Application>Microsoft Office PowerPoint</Application>
  <PresentationFormat>Affichage à l'écran (4:3)</PresentationFormat>
  <Paragraphs>30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Calibri</vt:lpstr>
      <vt:lpstr>Tw Cen MT</vt:lpstr>
      <vt:lpstr>Wingdings</vt:lpstr>
      <vt:lpstr>Ronds dans l’eau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Parcours d’arbre</dc:title>
  <dc:creator>annick</dc:creator>
  <cp:lastModifiedBy>Annick Dupont</cp:lastModifiedBy>
  <cp:revision>62</cp:revision>
  <dcterms:created xsi:type="dcterms:W3CDTF">2014-05-03T19:15:18Z</dcterms:created>
  <dcterms:modified xsi:type="dcterms:W3CDTF">2025-02-08T17:30:08Z</dcterms:modified>
</cp:coreProperties>
</file>