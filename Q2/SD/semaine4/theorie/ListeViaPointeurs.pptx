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340" r:id="rId2"/>
    <p:sldId id="341" r:id="rId3"/>
    <p:sldId id="342" r:id="rId4"/>
    <p:sldId id="399" r:id="rId5"/>
    <p:sldId id="343" r:id="rId6"/>
    <p:sldId id="344" r:id="rId7"/>
    <p:sldId id="345" r:id="rId8"/>
    <p:sldId id="346" r:id="rId9"/>
    <p:sldId id="423" r:id="rId10"/>
    <p:sldId id="347" r:id="rId11"/>
    <p:sldId id="378" r:id="rId12"/>
    <p:sldId id="421" r:id="rId13"/>
    <p:sldId id="391" r:id="rId14"/>
    <p:sldId id="392" r:id="rId15"/>
    <p:sldId id="393" r:id="rId16"/>
    <p:sldId id="382" r:id="rId17"/>
    <p:sldId id="383" r:id="rId18"/>
    <p:sldId id="384" r:id="rId19"/>
    <p:sldId id="385" r:id="rId20"/>
    <p:sldId id="420" r:id="rId21"/>
    <p:sldId id="358" r:id="rId22"/>
    <p:sldId id="424" r:id="rId23"/>
    <p:sldId id="359" r:id="rId24"/>
    <p:sldId id="360" r:id="rId25"/>
    <p:sldId id="370" r:id="rId26"/>
    <p:sldId id="372" r:id="rId27"/>
    <p:sldId id="373" r:id="rId28"/>
    <p:sldId id="369" r:id="rId29"/>
    <p:sldId id="397" r:id="rId30"/>
    <p:sldId id="375" r:id="rId31"/>
    <p:sldId id="376" r:id="rId3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56" autoAdjust="0"/>
    <p:restoredTop sz="94660"/>
  </p:normalViewPr>
  <p:slideViewPr>
    <p:cSldViewPr>
      <p:cViewPr varScale="1">
        <p:scale>
          <a:sx n="60" d="100"/>
          <a:sy n="60" d="100"/>
        </p:scale>
        <p:origin x="1448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B80076-B03F-45FB-95EB-4AB3B61349BA}" type="datetimeFigureOut">
              <a:rPr lang="fr-BE" smtClean="0"/>
              <a:t>09-02-25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0F8DD-53E4-4746-9FC7-0658412E79EA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17078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Oblige d’implémenter la méthode abstraite </a:t>
            </a:r>
            <a:r>
              <a:rPr lang="fr-BE" dirty="0" err="1"/>
              <a:t>iterator</a:t>
            </a:r>
            <a:r>
              <a:rPr lang="fr-BE" dirty="0"/>
              <a:t>()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20F8DD-53E4-4746-9FC7-0658412E79EA}" type="slidenum">
              <a:rPr lang="fr-BE" smtClean="0"/>
              <a:t>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944921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En</a:t>
            </a:r>
            <a:r>
              <a:rPr lang="fr-BE" baseline="0" dirty="0"/>
              <a:t> fin de parcours baladeur = </a:t>
            </a:r>
            <a:r>
              <a:rPr lang="fr-BE" baseline="0" dirty="0" err="1"/>
              <a:t>null</a:t>
            </a: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20F8DD-53E4-4746-9FC7-0658412E79EA}" type="slidenum">
              <a:rPr lang="fr-BE" smtClean="0"/>
              <a:t>15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180653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Schéma</a:t>
            </a:r>
            <a:r>
              <a:rPr lang="fr-BE" baseline="0" dirty="0"/>
              <a:t> classique! Ne pas oublier l’instruction  </a:t>
            </a:r>
            <a:r>
              <a:rPr lang="fr-B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baladeur=</a:t>
            </a:r>
            <a:r>
              <a:rPr lang="fr-B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baladeur.suivant</a:t>
            </a:r>
            <a:r>
              <a:rPr lang="fr-B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20F8DD-53E4-4746-9FC7-0658412E79EA}" type="slidenum">
              <a:rPr lang="fr-BE" smtClean="0"/>
              <a:t>20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472937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 err="1"/>
              <a:t>LinkedList</a:t>
            </a:r>
            <a:r>
              <a:rPr lang="fr-BE" dirty="0"/>
              <a:t> implémente List et </a:t>
            </a:r>
            <a:r>
              <a:rPr lang="fr-BE" dirty="0" err="1"/>
              <a:t>Deque</a:t>
            </a:r>
            <a:r>
              <a:rPr lang="fr-BE" dirty="0"/>
              <a:t>. On va retrouver plus de méthodes pour la </a:t>
            </a:r>
            <a:r>
              <a:rPr lang="fr-BE" dirty="0" err="1"/>
              <a:t>LinkedList</a:t>
            </a:r>
            <a:r>
              <a:rPr lang="fr-BE" dirty="0"/>
              <a:t> que l’</a:t>
            </a:r>
            <a:r>
              <a:rPr lang="fr-BE" dirty="0" err="1"/>
              <a:t>ArrayList</a:t>
            </a:r>
            <a:r>
              <a:rPr lang="fr-BE" dirty="0"/>
              <a:t> : pop(), push(), …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0F8DD-53E4-4746-9FC7-0658412E79EA}" type="slidenum">
              <a:rPr lang="fr-BE" smtClean="0"/>
              <a:t>22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678078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La </a:t>
            </a:r>
            <a:r>
              <a:rPr lang="fr-BE" dirty="0" err="1"/>
              <a:t>linkedList</a:t>
            </a:r>
            <a:r>
              <a:rPr lang="fr-BE" dirty="0"/>
              <a:t> implémente comme l’</a:t>
            </a:r>
            <a:r>
              <a:rPr lang="fr-BE" dirty="0" err="1"/>
              <a:t>ArrayList</a:t>
            </a:r>
            <a:r>
              <a:rPr lang="fr-BE" dirty="0"/>
              <a:t> l’interface List </a:t>
            </a:r>
            <a:r>
              <a:rPr lang="fr-BE" dirty="0">
                <a:sym typeface="Wingdings" panose="05000000000000000000" pitchFamily="2" charset="2"/>
              </a:rPr>
              <a:t> « </a:t>
            </a:r>
            <a:r>
              <a:rPr lang="fr-BE" dirty="0" err="1">
                <a:sym typeface="Wingdings" panose="05000000000000000000" pitchFamily="2" charset="2"/>
              </a:rPr>
              <a:t>ordered</a:t>
            </a:r>
            <a:r>
              <a:rPr lang="fr-BE" dirty="0">
                <a:sym typeface="Wingdings" panose="05000000000000000000" pitchFamily="2" charset="2"/>
              </a:rPr>
              <a:t> by index » Mais</a:t>
            </a:r>
            <a:r>
              <a:rPr lang="fr-BE" baseline="0" dirty="0">
                <a:sym typeface="Wingdings" panose="05000000000000000000" pitchFamily="2" charset="2"/>
              </a:rPr>
              <a:t> attention PAS accès direct!</a:t>
            </a: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20F8DD-53E4-4746-9FC7-0658412E79EA}" type="slidenum">
              <a:rPr lang="fr-BE" smtClean="0"/>
              <a:t>31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93009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F614C-5EEA-4919-94D1-1113F34DBD94}" type="datetimeFigureOut">
              <a:rPr lang="fr-BE" smtClean="0"/>
              <a:t>09-02-25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8B279-9368-493A-A984-2295772C1D8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80162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F614C-5EEA-4919-94D1-1113F34DBD94}" type="datetimeFigureOut">
              <a:rPr lang="fr-BE" smtClean="0"/>
              <a:t>09-02-25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8B279-9368-493A-A984-2295772C1D8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57661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F614C-5EEA-4919-94D1-1113F34DBD94}" type="datetimeFigureOut">
              <a:rPr lang="fr-BE" smtClean="0"/>
              <a:t>09-02-25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8B279-9368-493A-A984-2295772C1D8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73692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F614C-5EEA-4919-94D1-1113F34DBD94}" type="datetimeFigureOut">
              <a:rPr lang="fr-BE" smtClean="0"/>
              <a:t>09-02-25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8B279-9368-493A-A984-2295772C1D8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9510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F614C-5EEA-4919-94D1-1113F34DBD94}" type="datetimeFigureOut">
              <a:rPr lang="fr-BE" smtClean="0"/>
              <a:t>09-02-25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8B279-9368-493A-A984-2295772C1D8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60418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F614C-5EEA-4919-94D1-1113F34DBD94}" type="datetimeFigureOut">
              <a:rPr lang="fr-BE" smtClean="0"/>
              <a:t>09-02-25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8B279-9368-493A-A984-2295772C1D8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86363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F614C-5EEA-4919-94D1-1113F34DBD94}" type="datetimeFigureOut">
              <a:rPr lang="fr-BE" smtClean="0"/>
              <a:t>09-02-25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8B279-9368-493A-A984-2295772C1D8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65244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F614C-5EEA-4919-94D1-1113F34DBD94}" type="datetimeFigureOut">
              <a:rPr lang="fr-BE" smtClean="0"/>
              <a:t>09-02-25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8B279-9368-493A-A984-2295772C1D8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38457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F614C-5EEA-4919-94D1-1113F34DBD94}" type="datetimeFigureOut">
              <a:rPr lang="fr-BE" smtClean="0"/>
              <a:t>09-02-25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8B279-9368-493A-A984-2295772C1D8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33316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F614C-5EEA-4919-94D1-1113F34DBD94}" type="datetimeFigureOut">
              <a:rPr lang="fr-BE" smtClean="0"/>
              <a:t>09-02-25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8B279-9368-493A-A984-2295772C1D8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56543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F614C-5EEA-4919-94D1-1113F34DBD94}" type="datetimeFigureOut">
              <a:rPr lang="fr-BE" smtClean="0"/>
              <a:t>09-02-25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8B279-9368-493A-A984-2295772C1D8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35998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F614C-5EEA-4919-94D1-1113F34DBD94}" type="datetimeFigureOut">
              <a:rPr lang="fr-BE" smtClean="0"/>
              <a:t>09-02-25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38B279-9368-493A-A984-2295772C1D8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45947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be/url?sa=i&amp;rct=j&amp;q=&amp;esrc=s&amp;source=images&amp;cd=&amp;cad=rja&amp;docid=dTlfxLe7nYEBxM&amp;tbnid=pNxgKGsEvY8TfM:&amp;ved=0CAUQjRw&amp;url=http://amelie.lehuen.com/index.php/category/Epoque-montreal&amp;ei=nSr-Uo7iBsSc0AWwuoHQAQ&amp;bvm=bv.61190604,d.bGQ&amp;psig=AFQjCNFOBgbhlLqRx5pB3Bz3Gr-TwKBkRw&amp;ust=1392475002890435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39552" y="548680"/>
            <a:ext cx="7772400" cy="1470025"/>
          </a:xfrm>
        </p:spPr>
        <p:txBody>
          <a:bodyPr/>
          <a:lstStyle/>
          <a:p>
            <a:r>
              <a:rPr lang="fr-BE" dirty="0"/>
              <a:t>Les listes</a:t>
            </a:r>
          </a:p>
        </p:txBody>
      </p:sp>
    </p:spTree>
    <p:extLst>
      <p:ext uri="{BB962C8B-B14F-4D97-AF65-F5344CB8AC3E}">
        <p14:creationId xmlns:p14="http://schemas.microsoft.com/office/powerpoint/2010/main" val="1630298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39552" y="548680"/>
            <a:ext cx="7772400" cy="1470025"/>
          </a:xfrm>
        </p:spPr>
        <p:txBody>
          <a:bodyPr/>
          <a:lstStyle/>
          <a:p>
            <a:r>
              <a:rPr lang="fr-BE" dirty="0"/>
              <a:t>Les listes</a:t>
            </a:r>
          </a:p>
        </p:txBody>
      </p:sp>
      <p:pic>
        <p:nvPicPr>
          <p:cNvPr id="3" name="Image 2" descr="http://amelie.lehuen.com/images/0985-avr06/Liste%20courses%202.JPG">
            <a:hlinkClick r:id="rId2"/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1988840"/>
            <a:ext cx="3800475" cy="38385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6822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39552" y="548680"/>
            <a:ext cx="7772400" cy="1470025"/>
          </a:xfrm>
        </p:spPr>
        <p:txBody>
          <a:bodyPr/>
          <a:lstStyle/>
          <a:p>
            <a:r>
              <a:rPr lang="fr-BE" dirty="0"/>
              <a:t>Les listes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1628800"/>
            <a:ext cx="3960440" cy="45490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51072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LISTE (LIST)</a:t>
            </a: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5153025" y="1828800"/>
            <a:ext cx="3419475" cy="27813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BE"/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0" y="4533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BE"/>
          </a:p>
        </p:txBody>
      </p:sp>
      <p:sp>
        <p:nvSpPr>
          <p:cNvPr id="15" name="Rectangle 15"/>
          <p:cNvSpPr>
            <a:spLocks noChangeArrowheads="1"/>
          </p:cNvSpPr>
          <p:nvPr/>
        </p:nvSpPr>
        <p:spPr bwMode="auto">
          <a:xfrm>
            <a:off x="0" y="79343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55576" y="1803600"/>
            <a:ext cx="756084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fr-BE" sz="3600" dirty="0"/>
              <a:t>Une liste est une suite d’objets de même type, possédant un ordre bien précis, et dont le nombre est variable</a:t>
            </a:r>
          </a:p>
          <a:p>
            <a:pPr hangingPunct="0"/>
            <a:endParaRPr lang="fr-BE" sz="3600" dirty="0"/>
          </a:p>
          <a:p>
            <a:pPr hangingPunct="0"/>
            <a:r>
              <a:rPr lang="fr-BE" sz="3600" dirty="0"/>
              <a:t>(Une liste peut être vide!)</a:t>
            </a:r>
          </a:p>
        </p:txBody>
      </p:sp>
    </p:spTree>
    <p:extLst>
      <p:ext uri="{BB962C8B-B14F-4D97-AF65-F5344CB8AC3E}">
        <p14:creationId xmlns:p14="http://schemas.microsoft.com/office/powerpoint/2010/main" val="107486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71600" y="980728"/>
            <a:ext cx="741682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fr-BE" sz="3600" dirty="0"/>
              <a:t>Les opérations sur les piles et les files sont assez limitées !</a:t>
            </a:r>
          </a:p>
        </p:txBody>
      </p:sp>
    </p:spTree>
    <p:extLst>
      <p:ext uri="{BB962C8B-B14F-4D97-AF65-F5344CB8AC3E}">
        <p14:creationId xmlns:p14="http://schemas.microsoft.com/office/powerpoint/2010/main" val="2890848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71600" y="980728"/>
            <a:ext cx="741682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fr-BE" sz="3600" dirty="0"/>
              <a:t>Les opérations sur les piles et les files sont assez limitées !</a:t>
            </a:r>
          </a:p>
        </p:txBody>
      </p:sp>
      <p:sp>
        <p:nvSpPr>
          <p:cNvPr id="2" name="Rectangle 1"/>
          <p:cNvSpPr/>
          <p:nvPr/>
        </p:nvSpPr>
        <p:spPr>
          <a:xfrm>
            <a:off x="971600" y="3094397"/>
            <a:ext cx="77768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fr-BE" sz="3600" dirty="0"/>
              <a:t>Pile : retrait ou ajout au sommet</a:t>
            </a:r>
          </a:p>
          <a:p>
            <a:pPr hangingPunct="0"/>
            <a:endParaRPr lang="fr-BE" sz="3600" dirty="0"/>
          </a:p>
        </p:txBody>
      </p:sp>
    </p:spTree>
    <p:extLst>
      <p:ext uri="{BB962C8B-B14F-4D97-AF65-F5344CB8AC3E}">
        <p14:creationId xmlns:p14="http://schemas.microsoft.com/office/powerpoint/2010/main" val="3390517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71600" y="980728"/>
            <a:ext cx="741682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fr-BE" sz="3600" dirty="0"/>
              <a:t>Les opérations sur les piles et les files sont assez limitées !</a:t>
            </a:r>
          </a:p>
        </p:txBody>
      </p:sp>
      <p:sp>
        <p:nvSpPr>
          <p:cNvPr id="2" name="Rectangle 1"/>
          <p:cNvSpPr/>
          <p:nvPr/>
        </p:nvSpPr>
        <p:spPr>
          <a:xfrm>
            <a:off x="971600" y="3094397"/>
            <a:ext cx="777686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fr-BE" sz="3600" dirty="0"/>
              <a:t>Pile : retrait ou ajout au sommet</a:t>
            </a:r>
          </a:p>
          <a:p>
            <a:pPr hangingPunct="0"/>
            <a:endParaRPr lang="fr-BE" sz="3600" dirty="0"/>
          </a:p>
          <a:p>
            <a:pPr hangingPunct="0"/>
            <a:r>
              <a:rPr lang="fr-BE" sz="3600" dirty="0"/>
              <a:t>File : retrait en tête ou ajout en queue</a:t>
            </a:r>
          </a:p>
        </p:txBody>
      </p:sp>
    </p:spTree>
    <p:extLst>
      <p:ext uri="{BB962C8B-B14F-4D97-AF65-F5344CB8AC3E}">
        <p14:creationId xmlns:p14="http://schemas.microsoft.com/office/powerpoint/2010/main" val="4236193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0" y="692696"/>
            <a:ext cx="8712968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fr-BE" sz="3600" dirty="0"/>
              <a:t>Interface </a:t>
            </a:r>
            <a:r>
              <a:rPr lang="fr-BE" sz="3600" dirty="0" err="1"/>
              <a:t>ListeSimple</a:t>
            </a:r>
            <a:r>
              <a:rPr lang="fr-BE" sz="3600" dirty="0"/>
              <a:t>&lt;E&gt; </a:t>
            </a:r>
            <a:r>
              <a:rPr lang="fr-BE" sz="3600" dirty="0" err="1"/>
              <a:t>extends</a:t>
            </a:r>
            <a:r>
              <a:rPr lang="fr-BE" sz="3600" dirty="0"/>
              <a:t> </a:t>
            </a:r>
            <a:r>
              <a:rPr lang="fr-BE" sz="3600" dirty="0" err="1"/>
              <a:t>Iterable</a:t>
            </a:r>
            <a:r>
              <a:rPr lang="fr-BE" sz="3600" dirty="0"/>
              <a:t>&lt;E&gt;</a:t>
            </a:r>
          </a:p>
          <a:p>
            <a:pPr hangingPunct="0"/>
            <a:endParaRPr lang="fr-BE" sz="3600" dirty="0"/>
          </a:p>
          <a:p>
            <a:pPr hangingPunct="0"/>
            <a:r>
              <a:rPr lang="fr-BE" dirty="0"/>
              <a:t> </a:t>
            </a:r>
          </a:p>
          <a:p>
            <a:pPr hangingPunct="0"/>
            <a:endParaRPr lang="fr-BE" dirty="0"/>
          </a:p>
          <a:p>
            <a:pPr hangingPunct="0"/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taille()</a:t>
            </a:r>
          </a:p>
          <a:p>
            <a:pPr hangingPunct="0"/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pPr hangingPunct="0"/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estVide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hangingPunct="0"/>
            <a:endParaRPr lang="en-GB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hangingPunct="0"/>
            <a:endParaRPr lang="en-GB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hangingPunct="0"/>
            <a:endParaRPr lang="fr-B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hangingPunct="0"/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49869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0" y="692696"/>
            <a:ext cx="8712968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fr-BE" sz="3600" dirty="0"/>
              <a:t>Interface </a:t>
            </a:r>
            <a:r>
              <a:rPr lang="fr-BE" sz="3600" dirty="0" err="1"/>
              <a:t>ListeSimple</a:t>
            </a:r>
            <a:r>
              <a:rPr lang="fr-BE" sz="3600" dirty="0"/>
              <a:t>&lt;E&gt; </a:t>
            </a:r>
            <a:r>
              <a:rPr lang="fr-BE" sz="3600" dirty="0" err="1"/>
              <a:t>extends</a:t>
            </a:r>
            <a:r>
              <a:rPr lang="fr-BE" sz="3600" dirty="0"/>
              <a:t> </a:t>
            </a:r>
            <a:r>
              <a:rPr lang="fr-BE" sz="3600" dirty="0" err="1"/>
              <a:t>Iterable</a:t>
            </a:r>
            <a:r>
              <a:rPr lang="fr-BE" sz="3600" dirty="0"/>
              <a:t>&lt;E&gt;</a:t>
            </a:r>
          </a:p>
          <a:p>
            <a:pPr hangingPunct="0"/>
            <a:endParaRPr lang="fr-BE" sz="3600" dirty="0"/>
          </a:p>
          <a:p>
            <a:pPr hangingPunct="0"/>
            <a:r>
              <a:rPr lang="fr-BE" dirty="0"/>
              <a:t> </a:t>
            </a:r>
          </a:p>
          <a:p>
            <a:pPr hangingPunct="0"/>
            <a:endParaRPr lang="fr-BE" dirty="0"/>
          </a:p>
          <a:p>
            <a:pPr hangingPunct="0"/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taille()</a:t>
            </a:r>
          </a:p>
          <a:p>
            <a:pPr hangingPunct="0"/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pPr hangingPunct="0"/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estVide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hangingPunct="0"/>
            <a:endParaRPr lang="en-GB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hangingPunct="0"/>
            <a:endParaRPr lang="en-GB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hangingPunct="0"/>
            <a:endParaRPr lang="fr-B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hangingPunct="0"/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</p:txBody>
      </p:sp>
      <p:sp>
        <p:nvSpPr>
          <p:cNvPr id="3" name="Ellipse 2"/>
          <p:cNvSpPr/>
          <p:nvPr/>
        </p:nvSpPr>
        <p:spPr>
          <a:xfrm>
            <a:off x="4793359" y="766838"/>
            <a:ext cx="4032448" cy="57606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40293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0" y="692696"/>
            <a:ext cx="8712968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fr-BE" sz="3600" dirty="0"/>
              <a:t>Interface </a:t>
            </a:r>
            <a:r>
              <a:rPr lang="fr-BE" sz="3600" dirty="0" err="1"/>
              <a:t>ListeSimple</a:t>
            </a:r>
            <a:r>
              <a:rPr lang="fr-BE" sz="3600" dirty="0"/>
              <a:t>&lt;E&gt; </a:t>
            </a:r>
            <a:r>
              <a:rPr lang="fr-BE" sz="3600" dirty="0" err="1"/>
              <a:t>extends</a:t>
            </a:r>
            <a:r>
              <a:rPr lang="fr-BE" sz="3600" dirty="0"/>
              <a:t> </a:t>
            </a:r>
            <a:r>
              <a:rPr lang="fr-BE" sz="3600" dirty="0" err="1"/>
              <a:t>Iterable</a:t>
            </a:r>
            <a:r>
              <a:rPr lang="fr-BE" sz="3600" dirty="0"/>
              <a:t>&lt;E&gt;</a:t>
            </a:r>
          </a:p>
          <a:p>
            <a:pPr hangingPunct="0"/>
            <a:r>
              <a:rPr lang="fr-BE" dirty="0"/>
              <a:t> 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pPr hangingPunct="0"/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contient(E </a:t>
            </a:r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element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hangingPunct="0"/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pPr hangingPunct="0"/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 premier()</a:t>
            </a:r>
          </a:p>
          <a:p>
            <a:pPr hangingPunct="0"/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pPr hangingPunct="0"/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insererEnTete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(E </a:t>
            </a:r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element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hangingPunct="0"/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pPr hangingPunct="0"/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insererApres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(E </a:t>
            </a:r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E </a:t>
            </a:r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eAInserer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hangingPunct="0"/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pPr hangingPunct="0"/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supprimer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(E element)</a:t>
            </a:r>
            <a:endParaRPr lang="fr-B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hangingPunct="0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lang="fr-B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hangingPunct="0"/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endParaRPr lang="fr-B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465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fr-BE" dirty="0"/>
            </a:br>
            <a:r>
              <a:rPr lang="fr-BE" dirty="0"/>
              <a:t>Implémentation de la liste via </a:t>
            </a:r>
            <a:br>
              <a:rPr lang="fr-BE" dirty="0"/>
            </a:br>
            <a:r>
              <a:rPr lang="fr-BE" dirty="0"/>
              <a:t>une structure chaînée :</a:t>
            </a:r>
            <a:br>
              <a:rPr lang="fr-BE" dirty="0"/>
            </a:br>
            <a:endParaRPr lang="fr-BE" dirty="0"/>
          </a:p>
        </p:txBody>
      </p:sp>
      <p:grpSp>
        <p:nvGrpSpPr>
          <p:cNvPr id="24" name="Zone de dessin 317"/>
          <p:cNvGrpSpPr/>
          <p:nvPr/>
        </p:nvGrpSpPr>
        <p:grpSpPr>
          <a:xfrm>
            <a:off x="1115616" y="2705100"/>
            <a:ext cx="6840760" cy="2236068"/>
            <a:chOff x="0" y="0"/>
            <a:chExt cx="5486400" cy="1905000"/>
          </a:xfrm>
        </p:grpSpPr>
        <p:sp>
          <p:nvSpPr>
            <p:cNvPr id="25" name="Rectangle 24"/>
            <p:cNvSpPr/>
            <p:nvPr/>
          </p:nvSpPr>
          <p:spPr>
            <a:xfrm>
              <a:off x="0" y="0"/>
              <a:ext cx="5486400" cy="1905000"/>
            </a:xfrm>
            <a:prstGeom prst="rect">
              <a:avLst/>
            </a:prstGeom>
          </p:spPr>
          <p:txBody>
            <a:bodyPr/>
            <a:lstStyle/>
            <a:p>
              <a:endParaRPr lang="fr-BE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85800" y="1076325"/>
              <a:ext cx="1009650" cy="46672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hangingPunct="0">
                <a:spcAft>
                  <a:spcPts val="0"/>
                </a:spcAft>
              </a:pPr>
              <a:r>
                <a:rPr lang="fr-BE" sz="2200" kern="1400" dirty="0">
                  <a:effectLst/>
                  <a:latin typeface="Times New Roman"/>
                  <a:ea typeface="Times New Roman"/>
                </a:rPr>
                <a:t>   </a:t>
              </a:r>
              <a:r>
                <a:rPr lang="fr-BE" sz="2800" kern="1400" dirty="0">
                  <a:ea typeface="Times New Roman"/>
                </a:rPr>
                <a:t>‘c’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561250" y="1076325"/>
              <a:ext cx="1001100" cy="466724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hangingPunct="0"/>
              <a:r>
                <a:rPr lang="fr-BE" sz="2200" kern="1400" dirty="0">
                  <a:effectLst/>
                  <a:latin typeface="Times New Roman"/>
                  <a:ea typeface="Times New Roman"/>
                </a:rPr>
                <a:t>   </a:t>
              </a:r>
              <a:r>
                <a:rPr lang="fr-BE" sz="2800" kern="1400" dirty="0">
                  <a:ea typeface="Times New Roman"/>
                </a:rPr>
                <a:t>‘b’</a:t>
              </a:r>
            </a:p>
          </p:txBody>
        </p:sp>
        <p:cxnSp>
          <p:nvCxnSpPr>
            <p:cNvPr id="28" name="Connecteur droit avec flèche 27"/>
            <p:cNvCxnSpPr/>
            <p:nvPr/>
          </p:nvCxnSpPr>
          <p:spPr>
            <a:xfrm>
              <a:off x="1581150" y="1294107"/>
              <a:ext cx="9801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Rectangle 28"/>
            <p:cNvSpPr/>
            <p:nvPr/>
          </p:nvSpPr>
          <p:spPr>
            <a:xfrm>
              <a:off x="4427855" y="1057908"/>
              <a:ext cx="1000760" cy="466090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hangingPunct="0">
                <a:spcAft>
                  <a:spcPts val="0"/>
                </a:spcAft>
              </a:pPr>
              <a:r>
                <a:rPr lang="fr-BE" sz="1000" kern="1400" dirty="0">
                  <a:effectLst/>
                  <a:latin typeface="Times New Roman"/>
                  <a:ea typeface="Times New Roman"/>
                </a:rPr>
                <a:t>      </a:t>
              </a:r>
              <a:r>
                <a:rPr lang="fr-BE" sz="2800" kern="1400" dirty="0">
                  <a:ea typeface="Times New Roman"/>
                </a:rPr>
                <a:t>’a’</a:t>
              </a:r>
            </a:p>
          </p:txBody>
        </p:sp>
        <p:sp>
          <p:nvSpPr>
            <p:cNvPr id="30" name="Zone de texte 316"/>
            <p:cNvSpPr txBox="1"/>
            <p:nvPr/>
          </p:nvSpPr>
          <p:spPr>
            <a:xfrm>
              <a:off x="466724" y="295275"/>
              <a:ext cx="1257301" cy="381000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hangingPunct="0">
                <a:spcAft>
                  <a:spcPts val="0"/>
                </a:spcAft>
              </a:pPr>
              <a:r>
                <a:rPr lang="fr-BE" sz="2200" kern="1400" dirty="0">
                  <a:effectLst/>
                  <a:latin typeface="Times New Roman"/>
                  <a:ea typeface="Times New Roman"/>
                </a:rPr>
                <a:t> </a:t>
              </a:r>
              <a:r>
                <a:rPr lang="fr-BE" sz="2200" kern="1400" dirty="0" err="1">
                  <a:effectLst/>
                  <a:latin typeface="Times New Roman"/>
                  <a:ea typeface="Times New Roman"/>
                </a:rPr>
                <a:t>tete</a:t>
              </a:r>
              <a:endParaRPr lang="fr-BE" sz="1000" kern="1400" dirty="0">
                <a:effectLst/>
                <a:latin typeface="Times New Roman"/>
                <a:ea typeface="Times New Roman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80000" y="180000"/>
              <a:ext cx="295275" cy="44704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hangingPunct="0">
                <a:spcAft>
                  <a:spcPts val="0"/>
                </a:spcAft>
              </a:pPr>
              <a:r>
                <a:rPr lang="en-US" sz="1000" kern="1400">
                  <a:effectLst/>
                  <a:latin typeface="Times New Roman"/>
                  <a:ea typeface="Times New Roman"/>
                </a:rPr>
                <a:t> </a:t>
              </a:r>
              <a:endParaRPr lang="fr-BE" sz="1000" kern="1400">
                <a:effectLst/>
                <a:latin typeface="Times New Roman"/>
                <a:ea typeface="Times New Roman"/>
              </a:endParaRPr>
            </a:p>
          </p:txBody>
        </p:sp>
        <p:cxnSp>
          <p:nvCxnSpPr>
            <p:cNvPr id="32" name="Connecteur droit 31"/>
            <p:cNvCxnSpPr/>
            <p:nvPr/>
          </p:nvCxnSpPr>
          <p:spPr>
            <a:xfrm flipH="1">
              <a:off x="5229225" y="1181100"/>
              <a:ext cx="104775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eur droit 32"/>
            <p:cNvCxnSpPr/>
            <p:nvPr/>
          </p:nvCxnSpPr>
          <p:spPr>
            <a:xfrm>
              <a:off x="1400175" y="1076958"/>
              <a:ext cx="0" cy="4660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avec flèche 33"/>
            <p:cNvCxnSpPr/>
            <p:nvPr/>
          </p:nvCxnSpPr>
          <p:spPr>
            <a:xfrm>
              <a:off x="361950" y="476250"/>
              <a:ext cx="476250" cy="58165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eur droit 34"/>
            <p:cNvCxnSpPr/>
            <p:nvPr/>
          </p:nvCxnSpPr>
          <p:spPr>
            <a:xfrm>
              <a:off x="3305175" y="1076958"/>
              <a:ext cx="0" cy="46609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eur droit 35"/>
            <p:cNvCxnSpPr/>
            <p:nvPr/>
          </p:nvCxnSpPr>
          <p:spPr>
            <a:xfrm>
              <a:off x="1400175" y="1057908"/>
              <a:ext cx="0" cy="466090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eur droit 36"/>
            <p:cNvCxnSpPr/>
            <p:nvPr/>
          </p:nvCxnSpPr>
          <p:spPr>
            <a:xfrm>
              <a:off x="5104425" y="1057908"/>
              <a:ext cx="0" cy="466090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eur droit avec flèche 37"/>
            <p:cNvCxnSpPr/>
            <p:nvPr/>
          </p:nvCxnSpPr>
          <p:spPr>
            <a:xfrm>
              <a:off x="3448050" y="1292814"/>
              <a:ext cx="979805" cy="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12405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fr-BE" dirty="0"/>
            </a:br>
            <a:r>
              <a:rPr lang="fr-BE" dirty="0"/>
              <a:t>Le parcours </a:t>
            </a:r>
            <a:r>
              <a:rPr lang="fr-BE" b="1" dirty="0"/>
              <a:t>itératif</a:t>
            </a:r>
            <a:r>
              <a:rPr lang="fr-BE" dirty="0"/>
              <a:t> d’une structure chaînée se fait via un « baladeur » :</a:t>
            </a:r>
            <a:br>
              <a:rPr lang="fr-BE" dirty="0"/>
            </a:br>
            <a:endParaRPr lang="fr-BE" dirty="0"/>
          </a:p>
        </p:txBody>
      </p:sp>
      <p:grpSp>
        <p:nvGrpSpPr>
          <p:cNvPr id="24" name="Zone de dessin 317"/>
          <p:cNvGrpSpPr/>
          <p:nvPr/>
        </p:nvGrpSpPr>
        <p:grpSpPr>
          <a:xfrm>
            <a:off x="1115616" y="2705100"/>
            <a:ext cx="6840760" cy="2236068"/>
            <a:chOff x="0" y="0"/>
            <a:chExt cx="5486400" cy="1905000"/>
          </a:xfrm>
        </p:grpSpPr>
        <p:sp>
          <p:nvSpPr>
            <p:cNvPr id="25" name="Rectangle 24"/>
            <p:cNvSpPr/>
            <p:nvPr/>
          </p:nvSpPr>
          <p:spPr>
            <a:xfrm>
              <a:off x="0" y="0"/>
              <a:ext cx="5486400" cy="1905000"/>
            </a:xfrm>
            <a:prstGeom prst="rect">
              <a:avLst/>
            </a:prstGeom>
          </p:spPr>
          <p:txBody>
            <a:bodyPr/>
            <a:lstStyle/>
            <a:p>
              <a:endParaRPr lang="fr-BE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85800" y="1076325"/>
              <a:ext cx="1009650" cy="46672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hangingPunct="0">
                <a:spcAft>
                  <a:spcPts val="0"/>
                </a:spcAft>
              </a:pPr>
              <a:r>
                <a:rPr lang="fr-BE" sz="2200" kern="1400" dirty="0">
                  <a:effectLst/>
                  <a:latin typeface="Times New Roman"/>
                  <a:ea typeface="Times New Roman"/>
                </a:rPr>
                <a:t>   </a:t>
              </a:r>
              <a:r>
                <a:rPr lang="fr-BE" sz="2800" kern="1400" dirty="0">
                  <a:ea typeface="Times New Roman"/>
                </a:rPr>
                <a:t>‘c’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561250" y="1076325"/>
              <a:ext cx="1001100" cy="466724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hangingPunct="0"/>
              <a:r>
                <a:rPr lang="fr-BE" sz="2200" kern="1400" dirty="0">
                  <a:effectLst/>
                  <a:latin typeface="Times New Roman"/>
                  <a:ea typeface="Times New Roman"/>
                </a:rPr>
                <a:t>   </a:t>
              </a:r>
              <a:r>
                <a:rPr lang="fr-BE" sz="2800" kern="1400" dirty="0">
                  <a:ea typeface="Times New Roman"/>
                </a:rPr>
                <a:t>‘b’</a:t>
              </a:r>
            </a:p>
          </p:txBody>
        </p:sp>
        <p:cxnSp>
          <p:nvCxnSpPr>
            <p:cNvPr id="28" name="Connecteur droit avec flèche 27"/>
            <p:cNvCxnSpPr/>
            <p:nvPr/>
          </p:nvCxnSpPr>
          <p:spPr>
            <a:xfrm>
              <a:off x="1581150" y="1294107"/>
              <a:ext cx="9801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Rectangle 28"/>
            <p:cNvSpPr/>
            <p:nvPr/>
          </p:nvSpPr>
          <p:spPr>
            <a:xfrm>
              <a:off x="4427855" y="1057908"/>
              <a:ext cx="1000760" cy="466090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hangingPunct="0">
                <a:spcAft>
                  <a:spcPts val="0"/>
                </a:spcAft>
              </a:pPr>
              <a:r>
                <a:rPr lang="fr-BE" sz="1000" kern="1400" dirty="0">
                  <a:effectLst/>
                  <a:latin typeface="Times New Roman"/>
                  <a:ea typeface="Times New Roman"/>
                </a:rPr>
                <a:t>      </a:t>
              </a:r>
              <a:r>
                <a:rPr lang="fr-BE" sz="2800" kern="1400" dirty="0">
                  <a:ea typeface="Times New Roman"/>
                </a:rPr>
                <a:t>’a’</a:t>
              </a:r>
            </a:p>
          </p:txBody>
        </p:sp>
        <p:sp>
          <p:nvSpPr>
            <p:cNvPr id="30" name="Zone de texte 316"/>
            <p:cNvSpPr txBox="1"/>
            <p:nvPr/>
          </p:nvSpPr>
          <p:spPr>
            <a:xfrm>
              <a:off x="466724" y="295275"/>
              <a:ext cx="1257301" cy="381000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hangingPunct="0">
                <a:spcAft>
                  <a:spcPts val="0"/>
                </a:spcAft>
              </a:pPr>
              <a:r>
                <a:rPr lang="fr-BE" sz="2200" kern="1400" dirty="0">
                  <a:effectLst/>
                  <a:latin typeface="Times New Roman"/>
                  <a:ea typeface="Times New Roman"/>
                </a:rPr>
                <a:t> </a:t>
              </a:r>
              <a:r>
                <a:rPr lang="fr-BE" sz="2200" kern="1400" dirty="0" err="1">
                  <a:effectLst/>
                  <a:latin typeface="Times New Roman"/>
                  <a:ea typeface="Times New Roman"/>
                </a:rPr>
                <a:t>tete</a:t>
              </a:r>
              <a:endParaRPr lang="fr-BE" sz="1000" kern="1400" dirty="0">
                <a:effectLst/>
                <a:latin typeface="Times New Roman"/>
                <a:ea typeface="Times New Roman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80000" y="180000"/>
              <a:ext cx="295275" cy="44704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hangingPunct="0">
                <a:spcAft>
                  <a:spcPts val="0"/>
                </a:spcAft>
              </a:pPr>
              <a:r>
                <a:rPr lang="en-US" sz="1000" kern="1400">
                  <a:effectLst/>
                  <a:latin typeface="Times New Roman"/>
                  <a:ea typeface="Times New Roman"/>
                </a:rPr>
                <a:t> </a:t>
              </a:r>
              <a:endParaRPr lang="fr-BE" sz="1000" kern="1400">
                <a:effectLst/>
                <a:latin typeface="Times New Roman"/>
                <a:ea typeface="Times New Roman"/>
              </a:endParaRPr>
            </a:p>
          </p:txBody>
        </p:sp>
        <p:cxnSp>
          <p:nvCxnSpPr>
            <p:cNvPr id="32" name="Connecteur droit 31"/>
            <p:cNvCxnSpPr/>
            <p:nvPr/>
          </p:nvCxnSpPr>
          <p:spPr>
            <a:xfrm flipH="1">
              <a:off x="5229225" y="1181100"/>
              <a:ext cx="104775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eur droit 32"/>
            <p:cNvCxnSpPr/>
            <p:nvPr/>
          </p:nvCxnSpPr>
          <p:spPr>
            <a:xfrm>
              <a:off x="1400175" y="1076958"/>
              <a:ext cx="0" cy="4660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avec flèche 33"/>
            <p:cNvCxnSpPr/>
            <p:nvPr/>
          </p:nvCxnSpPr>
          <p:spPr>
            <a:xfrm>
              <a:off x="361950" y="476250"/>
              <a:ext cx="476250" cy="58165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eur droit 34"/>
            <p:cNvCxnSpPr/>
            <p:nvPr/>
          </p:nvCxnSpPr>
          <p:spPr>
            <a:xfrm>
              <a:off x="3305175" y="1076958"/>
              <a:ext cx="0" cy="46609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eur droit 35"/>
            <p:cNvCxnSpPr/>
            <p:nvPr/>
          </p:nvCxnSpPr>
          <p:spPr>
            <a:xfrm>
              <a:off x="1400175" y="1057908"/>
              <a:ext cx="0" cy="466090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eur droit 36"/>
            <p:cNvCxnSpPr/>
            <p:nvPr/>
          </p:nvCxnSpPr>
          <p:spPr>
            <a:xfrm>
              <a:off x="5104425" y="1057908"/>
              <a:ext cx="0" cy="466090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eur droit avec flèche 37"/>
            <p:cNvCxnSpPr/>
            <p:nvPr/>
          </p:nvCxnSpPr>
          <p:spPr>
            <a:xfrm>
              <a:off x="3448050" y="1292814"/>
              <a:ext cx="979805" cy="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10222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fr-BE" dirty="0"/>
            </a:br>
            <a:r>
              <a:rPr lang="fr-BE" dirty="0"/>
              <a:t>Le parcours </a:t>
            </a:r>
            <a:r>
              <a:rPr lang="fr-BE" b="1" dirty="0"/>
              <a:t>itératif</a:t>
            </a:r>
            <a:r>
              <a:rPr lang="fr-BE" dirty="0"/>
              <a:t> d’une structure chaînée se fait via un « baladeur » :</a:t>
            </a:r>
            <a:br>
              <a:rPr lang="fr-BE" dirty="0"/>
            </a:br>
            <a:endParaRPr lang="fr-BE" dirty="0"/>
          </a:p>
        </p:txBody>
      </p:sp>
      <p:grpSp>
        <p:nvGrpSpPr>
          <p:cNvPr id="24" name="Zone de dessin 317"/>
          <p:cNvGrpSpPr/>
          <p:nvPr/>
        </p:nvGrpSpPr>
        <p:grpSpPr>
          <a:xfrm>
            <a:off x="1115616" y="2705100"/>
            <a:ext cx="6840760" cy="2236068"/>
            <a:chOff x="0" y="0"/>
            <a:chExt cx="5486400" cy="1905000"/>
          </a:xfrm>
        </p:grpSpPr>
        <p:sp>
          <p:nvSpPr>
            <p:cNvPr id="25" name="Rectangle 24"/>
            <p:cNvSpPr/>
            <p:nvPr/>
          </p:nvSpPr>
          <p:spPr>
            <a:xfrm>
              <a:off x="0" y="0"/>
              <a:ext cx="5486400" cy="1905000"/>
            </a:xfrm>
            <a:prstGeom prst="rect">
              <a:avLst/>
            </a:prstGeom>
          </p:spPr>
          <p:txBody>
            <a:bodyPr/>
            <a:lstStyle/>
            <a:p>
              <a:endParaRPr lang="fr-BE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85800" y="1076325"/>
              <a:ext cx="1009650" cy="46672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hangingPunct="0">
                <a:spcAft>
                  <a:spcPts val="0"/>
                </a:spcAft>
              </a:pPr>
              <a:r>
                <a:rPr lang="fr-BE" sz="2200" kern="1400" dirty="0">
                  <a:effectLst/>
                  <a:latin typeface="Times New Roman"/>
                  <a:ea typeface="Times New Roman"/>
                </a:rPr>
                <a:t>   </a:t>
              </a:r>
              <a:r>
                <a:rPr lang="fr-BE" sz="2800" kern="1400" dirty="0">
                  <a:ea typeface="Times New Roman"/>
                </a:rPr>
                <a:t>‘c’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561250" y="1076325"/>
              <a:ext cx="1001100" cy="466724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hangingPunct="0"/>
              <a:r>
                <a:rPr lang="fr-BE" sz="2200" kern="1400" dirty="0">
                  <a:effectLst/>
                  <a:latin typeface="Times New Roman"/>
                  <a:ea typeface="Times New Roman"/>
                </a:rPr>
                <a:t>   </a:t>
              </a:r>
              <a:r>
                <a:rPr lang="fr-BE" sz="2800" kern="1400" dirty="0">
                  <a:ea typeface="Times New Roman"/>
                </a:rPr>
                <a:t>‘b’</a:t>
              </a:r>
            </a:p>
          </p:txBody>
        </p:sp>
        <p:cxnSp>
          <p:nvCxnSpPr>
            <p:cNvPr id="28" name="Connecteur droit avec flèche 27"/>
            <p:cNvCxnSpPr/>
            <p:nvPr/>
          </p:nvCxnSpPr>
          <p:spPr>
            <a:xfrm>
              <a:off x="1581150" y="1294107"/>
              <a:ext cx="9801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Rectangle 28"/>
            <p:cNvSpPr/>
            <p:nvPr/>
          </p:nvSpPr>
          <p:spPr>
            <a:xfrm>
              <a:off x="4427855" y="1057908"/>
              <a:ext cx="1000760" cy="466090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hangingPunct="0">
                <a:spcAft>
                  <a:spcPts val="0"/>
                </a:spcAft>
              </a:pPr>
              <a:r>
                <a:rPr lang="fr-BE" sz="1000" kern="1400" dirty="0">
                  <a:effectLst/>
                  <a:latin typeface="Times New Roman"/>
                  <a:ea typeface="Times New Roman"/>
                </a:rPr>
                <a:t>      </a:t>
              </a:r>
              <a:r>
                <a:rPr lang="fr-BE" sz="2800" kern="1400" dirty="0">
                  <a:ea typeface="Times New Roman"/>
                </a:rPr>
                <a:t>’a’</a:t>
              </a:r>
            </a:p>
          </p:txBody>
        </p:sp>
        <p:sp>
          <p:nvSpPr>
            <p:cNvPr id="30" name="Zone de texte 316"/>
            <p:cNvSpPr txBox="1"/>
            <p:nvPr/>
          </p:nvSpPr>
          <p:spPr>
            <a:xfrm>
              <a:off x="466724" y="295275"/>
              <a:ext cx="1257301" cy="381000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hangingPunct="0">
                <a:spcAft>
                  <a:spcPts val="0"/>
                </a:spcAft>
              </a:pPr>
              <a:r>
                <a:rPr lang="fr-BE" sz="2200" kern="1400" dirty="0">
                  <a:effectLst/>
                  <a:latin typeface="Times New Roman"/>
                  <a:ea typeface="Times New Roman"/>
                </a:rPr>
                <a:t> </a:t>
              </a:r>
              <a:r>
                <a:rPr lang="fr-BE" sz="2200" kern="1400" dirty="0" err="1">
                  <a:effectLst/>
                  <a:latin typeface="Times New Roman"/>
                  <a:ea typeface="Times New Roman"/>
                </a:rPr>
                <a:t>tete</a:t>
              </a:r>
              <a:endParaRPr lang="fr-BE" sz="1000" kern="1400" dirty="0">
                <a:effectLst/>
                <a:latin typeface="Times New Roman"/>
                <a:ea typeface="Times New Roman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80000" y="180000"/>
              <a:ext cx="295275" cy="44704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hangingPunct="0">
                <a:spcAft>
                  <a:spcPts val="0"/>
                </a:spcAft>
              </a:pPr>
              <a:r>
                <a:rPr lang="en-US" sz="1000" kern="1400">
                  <a:effectLst/>
                  <a:latin typeface="Times New Roman"/>
                  <a:ea typeface="Times New Roman"/>
                </a:rPr>
                <a:t> </a:t>
              </a:r>
              <a:endParaRPr lang="fr-BE" sz="1000" kern="1400">
                <a:effectLst/>
                <a:latin typeface="Times New Roman"/>
                <a:ea typeface="Times New Roman"/>
              </a:endParaRPr>
            </a:p>
          </p:txBody>
        </p:sp>
        <p:cxnSp>
          <p:nvCxnSpPr>
            <p:cNvPr id="32" name="Connecteur droit 31"/>
            <p:cNvCxnSpPr/>
            <p:nvPr/>
          </p:nvCxnSpPr>
          <p:spPr>
            <a:xfrm flipH="1">
              <a:off x="5229225" y="1181100"/>
              <a:ext cx="104775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eur droit 32"/>
            <p:cNvCxnSpPr/>
            <p:nvPr/>
          </p:nvCxnSpPr>
          <p:spPr>
            <a:xfrm>
              <a:off x="1400175" y="1076958"/>
              <a:ext cx="0" cy="4660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avec flèche 33"/>
            <p:cNvCxnSpPr/>
            <p:nvPr/>
          </p:nvCxnSpPr>
          <p:spPr>
            <a:xfrm>
              <a:off x="361950" y="476250"/>
              <a:ext cx="476250" cy="58165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eur droit 34"/>
            <p:cNvCxnSpPr/>
            <p:nvPr/>
          </p:nvCxnSpPr>
          <p:spPr>
            <a:xfrm>
              <a:off x="3305175" y="1076958"/>
              <a:ext cx="0" cy="46609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eur droit 35"/>
            <p:cNvCxnSpPr/>
            <p:nvPr/>
          </p:nvCxnSpPr>
          <p:spPr>
            <a:xfrm>
              <a:off x="1400175" y="1057908"/>
              <a:ext cx="0" cy="466090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eur droit 36"/>
            <p:cNvCxnSpPr/>
            <p:nvPr/>
          </p:nvCxnSpPr>
          <p:spPr>
            <a:xfrm>
              <a:off x="5104425" y="1057908"/>
              <a:ext cx="0" cy="466090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eur droit avec flèche 37"/>
            <p:cNvCxnSpPr/>
            <p:nvPr/>
          </p:nvCxnSpPr>
          <p:spPr>
            <a:xfrm>
              <a:off x="3448050" y="1292814"/>
              <a:ext cx="979805" cy="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" name="Rectangle 17"/>
          <p:cNvSpPr/>
          <p:nvPr/>
        </p:nvSpPr>
        <p:spPr>
          <a:xfrm>
            <a:off x="2713797" y="2908584"/>
            <a:ext cx="295275" cy="44704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hangingPunct="0">
              <a:spcAft>
                <a:spcPts val="0"/>
              </a:spcAft>
            </a:pPr>
            <a:r>
              <a:rPr lang="en-US" sz="1000" kern="1400">
                <a:effectLst/>
                <a:latin typeface="Times New Roman"/>
                <a:ea typeface="Times New Roman"/>
              </a:rPr>
              <a:t> </a:t>
            </a:r>
            <a:endParaRPr lang="fr-BE" sz="1200">
              <a:effectLst/>
              <a:latin typeface="Times New Roman"/>
              <a:ea typeface="Times New Roman"/>
            </a:endParaRPr>
          </a:p>
        </p:txBody>
      </p:sp>
      <p:cxnSp>
        <p:nvCxnSpPr>
          <p:cNvPr id="19" name="Connecteur droit avec flèche 18"/>
          <p:cNvCxnSpPr/>
          <p:nvPr/>
        </p:nvCxnSpPr>
        <p:spPr>
          <a:xfrm flipH="1">
            <a:off x="2600156" y="3178747"/>
            <a:ext cx="261279" cy="78973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 de texte 230"/>
          <p:cNvSpPr txBox="1"/>
          <p:nvPr/>
        </p:nvSpPr>
        <p:spPr>
          <a:xfrm>
            <a:off x="3229601" y="2941604"/>
            <a:ext cx="1381125" cy="381000"/>
          </a:xfrm>
          <a:prstGeom prst="rect">
            <a:avLst/>
          </a:prstGeom>
          <a:solidFill>
            <a:schemeClr val="lt1"/>
          </a:solidFill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hangingPunct="0">
              <a:spcAft>
                <a:spcPts val="0"/>
              </a:spcAft>
            </a:pPr>
            <a:r>
              <a:rPr lang="fr-BE" sz="2200" kern="1400" dirty="0">
                <a:effectLst/>
                <a:latin typeface="Times New Roman"/>
                <a:ea typeface="Times New Roman"/>
              </a:rPr>
              <a:t> </a:t>
            </a:r>
            <a:r>
              <a:rPr lang="fr-BE" sz="2200" kern="1400" dirty="0">
                <a:solidFill>
                  <a:srgbClr val="4F81BD"/>
                </a:solidFill>
                <a:effectLst/>
                <a:latin typeface="Times New Roman"/>
                <a:ea typeface="Times New Roman"/>
              </a:rPr>
              <a:t>baladeur</a:t>
            </a:r>
            <a:endParaRPr lang="fr-BE" sz="1200" dirty="0">
              <a:effectLst/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61103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fr-BE" dirty="0"/>
            </a:br>
            <a:r>
              <a:rPr lang="fr-BE" dirty="0"/>
              <a:t>Le parcours </a:t>
            </a:r>
            <a:r>
              <a:rPr lang="fr-BE" b="1" dirty="0"/>
              <a:t>itératif </a:t>
            </a:r>
            <a:r>
              <a:rPr lang="fr-BE" dirty="0"/>
              <a:t>d’une structure chaînée se fait via un « baladeur » :</a:t>
            </a:r>
            <a:br>
              <a:rPr lang="fr-BE" dirty="0"/>
            </a:br>
            <a:endParaRPr lang="fr-BE" dirty="0"/>
          </a:p>
        </p:txBody>
      </p:sp>
      <p:grpSp>
        <p:nvGrpSpPr>
          <p:cNvPr id="24" name="Zone de dessin 317"/>
          <p:cNvGrpSpPr/>
          <p:nvPr/>
        </p:nvGrpSpPr>
        <p:grpSpPr>
          <a:xfrm>
            <a:off x="1115616" y="2705100"/>
            <a:ext cx="6840760" cy="2236068"/>
            <a:chOff x="0" y="0"/>
            <a:chExt cx="5486400" cy="1905000"/>
          </a:xfrm>
        </p:grpSpPr>
        <p:sp>
          <p:nvSpPr>
            <p:cNvPr id="25" name="Rectangle 24"/>
            <p:cNvSpPr/>
            <p:nvPr/>
          </p:nvSpPr>
          <p:spPr>
            <a:xfrm>
              <a:off x="0" y="0"/>
              <a:ext cx="5486400" cy="1905000"/>
            </a:xfrm>
            <a:prstGeom prst="rect">
              <a:avLst/>
            </a:prstGeom>
          </p:spPr>
          <p:txBody>
            <a:bodyPr/>
            <a:lstStyle/>
            <a:p>
              <a:endParaRPr lang="fr-BE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85800" y="1076325"/>
              <a:ext cx="1009650" cy="46672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hangingPunct="0">
                <a:spcAft>
                  <a:spcPts val="0"/>
                </a:spcAft>
              </a:pPr>
              <a:r>
                <a:rPr lang="fr-BE" sz="2200" kern="1400" dirty="0">
                  <a:effectLst/>
                  <a:latin typeface="Times New Roman"/>
                  <a:ea typeface="Times New Roman"/>
                </a:rPr>
                <a:t>   </a:t>
              </a:r>
              <a:r>
                <a:rPr lang="fr-BE" sz="2800" kern="1400" dirty="0">
                  <a:ea typeface="Times New Roman"/>
                </a:rPr>
                <a:t>‘c’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561250" y="1076325"/>
              <a:ext cx="1001100" cy="466724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hangingPunct="0"/>
              <a:r>
                <a:rPr lang="fr-BE" sz="2200" kern="1400" dirty="0">
                  <a:effectLst/>
                  <a:latin typeface="Times New Roman"/>
                  <a:ea typeface="Times New Roman"/>
                </a:rPr>
                <a:t>   </a:t>
              </a:r>
              <a:r>
                <a:rPr lang="fr-BE" sz="2800" kern="1400" dirty="0">
                  <a:ea typeface="Times New Roman"/>
                </a:rPr>
                <a:t>‘b’</a:t>
              </a:r>
            </a:p>
          </p:txBody>
        </p:sp>
        <p:cxnSp>
          <p:nvCxnSpPr>
            <p:cNvPr id="28" name="Connecteur droit avec flèche 27"/>
            <p:cNvCxnSpPr/>
            <p:nvPr/>
          </p:nvCxnSpPr>
          <p:spPr>
            <a:xfrm>
              <a:off x="1581150" y="1294107"/>
              <a:ext cx="9801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Rectangle 28"/>
            <p:cNvSpPr/>
            <p:nvPr/>
          </p:nvSpPr>
          <p:spPr>
            <a:xfrm>
              <a:off x="4427855" y="1057908"/>
              <a:ext cx="1000760" cy="466090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hangingPunct="0">
                <a:spcAft>
                  <a:spcPts val="0"/>
                </a:spcAft>
              </a:pPr>
              <a:r>
                <a:rPr lang="fr-BE" sz="1000" kern="1400" dirty="0">
                  <a:effectLst/>
                  <a:latin typeface="Times New Roman"/>
                  <a:ea typeface="Times New Roman"/>
                </a:rPr>
                <a:t>      </a:t>
              </a:r>
              <a:r>
                <a:rPr lang="fr-BE" sz="2800" kern="1400" dirty="0">
                  <a:ea typeface="Times New Roman"/>
                </a:rPr>
                <a:t>’a’</a:t>
              </a:r>
            </a:p>
          </p:txBody>
        </p:sp>
        <p:sp>
          <p:nvSpPr>
            <p:cNvPr id="30" name="Zone de texte 316"/>
            <p:cNvSpPr txBox="1"/>
            <p:nvPr/>
          </p:nvSpPr>
          <p:spPr>
            <a:xfrm>
              <a:off x="466724" y="295275"/>
              <a:ext cx="1257301" cy="381000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hangingPunct="0">
                <a:spcAft>
                  <a:spcPts val="0"/>
                </a:spcAft>
              </a:pPr>
              <a:r>
                <a:rPr lang="fr-BE" sz="2200" kern="1400" dirty="0">
                  <a:effectLst/>
                  <a:latin typeface="Times New Roman"/>
                  <a:ea typeface="Times New Roman"/>
                </a:rPr>
                <a:t> </a:t>
              </a:r>
              <a:r>
                <a:rPr lang="fr-BE" sz="2200" kern="1400" dirty="0" err="1">
                  <a:effectLst/>
                  <a:latin typeface="Times New Roman"/>
                  <a:ea typeface="Times New Roman"/>
                </a:rPr>
                <a:t>tete</a:t>
              </a:r>
              <a:endParaRPr lang="fr-BE" sz="1000" kern="1400" dirty="0">
                <a:effectLst/>
                <a:latin typeface="Times New Roman"/>
                <a:ea typeface="Times New Roman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80000" y="180000"/>
              <a:ext cx="295275" cy="44704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hangingPunct="0">
                <a:spcAft>
                  <a:spcPts val="0"/>
                </a:spcAft>
              </a:pPr>
              <a:r>
                <a:rPr lang="en-US" sz="1000" kern="1400">
                  <a:effectLst/>
                  <a:latin typeface="Times New Roman"/>
                  <a:ea typeface="Times New Roman"/>
                </a:rPr>
                <a:t> </a:t>
              </a:r>
              <a:endParaRPr lang="fr-BE" sz="1000" kern="1400">
                <a:effectLst/>
                <a:latin typeface="Times New Roman"/>
                <a:ea typeface="Times New Roman"/>
              </a:endParaRPr>
            </a:p>
          </p:txBody>
        </p:sp>
        <p:cxnSp>
          <p:nvCxnSpPr>
            <p:cNvPr id="32" name="Connecteur droit 31"/>
            <p:cNvCxnSpPr/>
            <p:nvPr/>
          </p:nvCxnSpPr>
          <p:spPr>
            <a:xfrm flipH="1">
              <a:off x="5229225" y="1181100"/>
              <a:ext cx="104775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eur droit 32"/>
            <p:cNvCxnSpPr/>
            <p:nvPr/>
          </p:nvCxnSpPr>
          <p:spPr>
            <a:xfrm>
              <a:off x="1400175" y="1076958"/>
              <a:ext cx="0" cy="4660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avec flèche 33"/>
            <p:cNvCxnSpPr/>
            <p:nvPr/>
          </p:nvCxnSpPr>
          <p:spPr>
            <a:xfrm>
              <a:off x="361950" y="476250"/>
              <a:ext cx="476250" cy="58165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eur droit 34"/>
            <p:cNvCxnSpPr/>
            <p:nvPr/>
          </p:nvCxnSpPr>
          <p:spPr>
            <a:xfrm>
              <a:off x="3305175" y="1076958"/>
              <a:ext cx="0" cy="46609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eur droit 35"/>
            <p:cNvCxnSpPr/>
            <p:nvPr/>
          </p:nvCxnSpPr>
          <p:spPr>
            <a:xfrm>
              <a:off x="1400175" y="1057908"/>
              <a:ext cx="0" cy="466090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eur droit 36"/>
            <p:cNvCxnSpPr/>
            <p:nvPr/>
          </p:nvCxnSpPr>
          <p:spPr>
            <a:xfrm>
              <a:off x="5104425" y="1057908"/>
              <a:ext cx="0" cy="466090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eur droit avec flèche 37"/>
            <p:cNvCxnSpPr/>
            <p:nvPr/>
          </p:nvCxnSpPr>
          <p:spPr>
            <a:xfrm>
              <a:off x="3448050" y="1292814"/>
              <a:ext cx="979805" cy="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" name="Rectangle 17"/>
          <p:cNvSpPr/>
          <p:nvPr/>
        </p:nvSpPr>
        <p:spPr>
          <a:xfrm>
            <a:off x="4753043" y="2994073"/>
            <a:ext cx="295275" cy="44704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hangingPunct="0">
              <a:spcAft>
                <a:spcPts val="0"/>
              </a:spcAft>
            </a:pPr>
            <a:r>
              <a:rPr lang="en-US" sz="1000" kern="1400">
                <a:effectLst/>
                <a:latin typeface="Times New Roman"/>
                <a:ea typeface="Times New Roman"/>
              </a:rPr>
              <a:t> </a:t>
            </a:r>
            <a:endParaRPr lang="fr-BE" sz="1200">
              <a:effectLst/>
              <a:latin typeface="Times New Roman"/>
              <a:ea typeface="Times New Roman"/>
            </a:endParaRPr>
          </a:p>
        </p:txBody>
      </p:sp>
      <p:cxnSp>
        <p:nvCxnSpPr>
          <p:cNvPr id="19" name="Connecteur droit avec flèche 18"/>
          <p:cNvCxnSpPr/>
          <p:nvPr/>
        </p:nvCxnSpPr>
        <p:spPr>
          <a:xfrm flipH="1">
            <a:off x="4597019" y="3210623"/>
            <a:ext cx="261279" cy="78973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 de texte 230"/>
          <p:cNvSpPr txBox="1"/>
          <p:nvPr/>
        </p:nvSpPr>
        <p:spPr>
          <a:xfrm>
            <a:off x="5204342" y="2926272"/>
            <a:ext cx="1381125" cy="381000"/>
          </a:xfrm>
          <a:prstGeom prst="rect">
            <a:avLst/>
          </a:prstGeom>
          <a:solidFill>
            <a:schemeClr val="lt1"/>
          </a:solidFill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hangingPunct="0">
              <a:spcAft>
                <a:spcPts val="0"/>
              </a:spcAft>
            </a:pPr>
            <a:r>
              <a:rPr lang="fr-BE" sz="2200" kern="1400" dirty="0">
                <a:effectLst/>
                <a:latin typeface="Times New Roman"/>
                <a:ea typeface="Times New Roman"/>
              </a:rPr>
              <a:t> </a:t>
            </a:r>
            <a:r>
              <a:rPr lang="fr-BE" sz="2200" kern="1400" dirty="0">
                <a:solidFill>
                  <a:srgbClr val="4F81BD"/>
                </a:solidFill>
                <a:effectLst/>
                <a:latin typeface="Times New Roman"/>
                <a:ea typeface="Times New Roman"/>
              </a:rPr>
              <a:t>baladeur</a:t>
            </a:r>
            <a:endParaRPr lang="fr-BE" sz="1200" dirty="0">
              <a:effectLst/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48268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fr-BE" dirty="0"/>
            </a:br>
            <a:r>
              <a:rPr lang="fr-BE" dirty="0"/>
              <a:t>Le parcours </a:t>
            </a:r>
            <a:r>
              <a:rPr lang="fr-BE" b="1" dirty="0"/>
              <a:t>itératif </a:t>
            </a:r>
            <a:r>
              <a:rPr lang="fr-BE" dirty="0"/>
              <a:t>d’une structure chaînée se fait via un « baladeur » :</a:t>
            </a:r>
            <a:br>
              <a:rPr lang="fr-BE" dirty="0"/>
            </a:br>
            <a:endParaRPr lang="fr-BE" dirty="0"/>
          </a:p>
        </p:txBody>
      </p:sp>
      <p:grpSp>
        <p:nvGrpSpPr>
          <p:cNvPr id="24" name="Zone de dessin 317"/>
          <p:cNvGrpSpPr/>
          <p:nvPr/>
        </p:nvGrpSpPr>
        <p:grpSpPr>
          <a:xfrm>
            <a:off x="1115616" y="2705100"/>
            <a:ext cx="6840760" cy="2236068"/>
            <a:chOff x="0" y="0"/>
            <a:chExt cx="5486400" cy="1905000"/>
          </a:xfrm>
        </p:grpSpPr>
        <p:sp>
          <p:nvSpPr>
            <p:cNvPr id="25" name="Rectangle 24"/>
            <p:cNvSpPr/>
            <p:nvPr/>
          </p:nvSpPr>
          <p:spPr>
            <a:xfrm>
              <a:off x="0" y="0"/>
              <a:ext cx="5486400" cy="1905000"/>
            </a:xfrm>
            <a:prstGeom prst="rect">
              <a:avLst/>
            </a:prstGeom>
          </p:spPr>
          <p:txBody>
            <a:bodyPr/>
            <a:lstStyle/>
            <a:p>
              <a:endParaRPr lang="fr-BE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85800" y="1076325"/>
              <a:ext cx="1009650" cy="46672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hangingPunct="0">
                <a:spcAft>
                  <a:spcPts val="0"/>
                </a:spcAft>
              </a:pPr>
              <a:r>
                <a:rPr lang="fr-BE" sz="2200" kern="1400" dirty="0">
                  <a:effectLst/>
                  <a:latin typeface="Times New Roman"/>
                  <a:ea typeface="Times New Roman"/>
                </a:rPr>
                <a:t>   </a:t>
              </a:r>
              <a:r>
                <a:rPr lang="fr-BE" sz="2800" kern="1400" dirty="0">
                  <a:ea typeface="Times New Roman"/>
                </a:rPr>
                <a:t>‘c’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561250" y="1076325"/>
              <a:ext cx="1001100" cy="466724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hangingPunct="0"/>
              <a:r>
                <a:rPr lang="fr-BE" sz="2200" kern="1400" dirty="0">
                  <a:effectLst/>
                  <a:latin typeface="Times New Roman"/>
                  <a:ea typeface="Times New Roman"/>
                </a:rPr>
                <a:t>   </a:t>
              </a:r>
              <a:r>
                <a:rPr lang="fr-BE" sz="2800" kern="1400" dirty="0">
                  <a:ea typeface="Times New Roman"/>
                </a:rPr>
                <a:t>‘b’</a:t>
              </a:r>
            </a:p>
          </p:txBody>
        </p:sp>
        <p:cxnSp>
          <p:nvCxnSpPr>
            <p:cNvPr id="28" name="Connecteur droit avec flèche 27"/>
            <p:cNvCxnSpPr/>
            <p:nvPr/>
          </p:nvCxnSpPr>
          <p:spPr>
            <a:xfrm>
              <a:off x="1581150" y="1294107"/>
              <a:ext cx="9801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Rectangle 28"/>
            <p:cNvSpPr/>
            <p:nvPr/>
          </p:nvSpPr>
          <p:spPr>
            <a:xfrm>
              <a:off x="4427855" y="1057908"/>
              <a:ext cx="1000760" cy="466090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hangingPunct="0">
                <a:spcAft>
                  <a:spcPts val="0"/>
                </a:spcAft>
              </a:pPr>
              <a:r>
                <a:rPr lang="fr-BE" sz="1000" kern="1400" dirty="0">
                  <a:effectLst/>
                  <a:latin typeface="Times New Roman"/>
                  <a:ea typeface="Times New Roman"/>
                </a:rPr>
                <a:t>      </a:t>
              </a:r>
              <a:r>
                <a:rPr lang="fr-BE" sz="2800" kern="1400" dirty="0">
                  <a:ea typeface="Times New Roman"/>
                </a:rPr>
                <a:t>’a’</a:t>
              </a:r>
            </a:p>
          </p:txBody>
        </p:sp>
        <p:sp>
          <p:nvSpPr>
            <p:cNvPr id="30" name="Zone de texte 316"/>
            <p:cNvSpPr txBox="1"/>
            <p:nvPr/>
          </p:nvSpPr>
          <p:spPr>
            <a:xfrm>
              <a:off x="466724" y="295275"/>
              <a:ext cx="1257301" cy="381000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hangingPunct="0">
                <a:spcAft>
                  <a:spcPts val="0"/>
                </a:spcAft>
              </a:pPr>
              <a:r>
                <a:rPr lang="fr-BE" sz="2200" kern="1400" dirty="0">
                  <a:effectLst/>
                  <a:latin typeface="Times New Roman"/>
                  <a:ea typeface="Times New Roman"/>
                </a:rPr>
                <a:t> </a:t>
              </a:r>
              <a:r>
                <a:rPr lang="fr-BE" sz="2200" kern="1400" dirty="0" err="1">
                  <a:effectLst/>
                  <a:latin typeface="Times New Roman"/>
                  <a:ea typeface="Times New Roman"/>
                </a:rPr>
                <a:t>tete</a:t>
              </a:r>
              <a:endParaRPr lang="fr-BE" sz="1000" kern="1400" dirty="0">
                <a:effectLst/>
                <a:latin typeface="Times New Roman"/>
                <a:ea typeface="Times New Roman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80000" y="180000"/>
              <a:ext cx="295275" cy="44704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hangingPunct="0">
                <a:spcAft>
                  <a:spcPts val="0"/>
                </a:spcAft>
              </a:pPr>
              <a:r>
                <a:rPr lang="en-US" sz="1000" kern="1400">
                  <a:effectLst/>
                  <a:latin typeface="Times New Roman"/>
                  <a:ea typeface="Times New Roman"/>
                </a:rPr>
                <a:t> </a:t>
              </a:r>
              <a:endParaRPr lang="fr-BE" sz="1000" kern="1400">
                <a:effectLst/>
                <a:latin typeface="Times New Roman"/>
                <a:ea typeface="Times New Roman"/>
              </a:endParaRPr>
            </a:p>
          </p:txBody>
        </p:sp>
        <p:cxnSp>
          <p:nvCxnSpPr>
            <p:cNvPr id="32" name="Connecteur droit 31"/>
            <p:cNvCxnSpPr/>
            <p:nvPr/>
          </p:nvCxnSpPr>
          <p:spPr>
            <a:xfrm flipH="1">
              <a:off x="5229225" y="1181100"/>
              <a:ext cx="104775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eur droit 32"/>
            <p:cNvCxnSpPr/>
            <p:nvPr/>
          </p:nvCxnSpPr>
          <p:spPr>
            <a:xfrm>
              <a:off x="1400175" y="1076958"/>
              <a:ext cx="0" cy="4660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avec flèche 33"/>
            <p:cNvCxnSpPr/>
            <p:nvPr/>
          </p:nvCxnSpPr>
          <p:spPr>
            <a:xfrm>
              <a:off x="361950" y="476250"/>
              <a:ext cx="476250" cy="58165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eur droit 34"/>
            <p:cNvCxnSpPr/>
            <p:nvPr/>
          </p:nvCxnSpPr>
          <p:spPr>
            <a:xfrm>
              <a:off x="3305175" y="1076958"/>
              <a:ext cx="0" cy="46609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eur droit 35"/>
            <p:cNvCxnSpPr/>
            <p:nvPr/>
          </p:nvCxnSpPr>
          <p:spPr>
            <a:xfrm>
              <a:off x="1400175" y="1057908"/>
              <a:ext cx="0" cy="466090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eur droit 36"/>
            <p:cNvCxnSpPr/>
            <p:nvPr/>
          </p:nvCxnSpPr>
          <p:spPr>
            <a:xfrm>
              <a:off x="5104425" y="1057908"/>
              <a:ext cx="0" cy="466090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eur droit avec flèche 37"/>
            <p:cNvCxnSpPr/>
            <p:nvPr/>
          </p:nvCxnSpPr>
          <p:spPr>
            <a:xfrm>
              <a:off x="3448050" y="1292814"/>
              <a:ext cx="979805" cy="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" name="Rectangle 17"/>
          <p:cNvSpPr/>
          <p:nvPr/>
        </p:nvSpPr>
        <p:spPr>
          <a:xfrm>
            <a:off x="7215718" y="2875564"/>
            <a:ext cx="295275" cy="44704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hangingPunct="0">
              <a:spcAft>
                <a:spcPts val="0"/>
              </a:spcAft>
            </a:pPr>
            <a:r>
              <a:rPr lang="en-US" sz="1000" kern="1400">
                <a:effectLst/>
                <a:latin typeface="Times New Roman"/>
                <a:ea typeface="Times New Roman"/>
              </a:rPr>
              <a:t> </a:t>
            </a:r>
            <a:endParaRPr lang="fr-BE" sz="1200">
              <a:effectLst/>
              <a:latin typeface="Times New Roman"/>
              <a:ea typeface="Times New Roman"/>
            </a:endParaRPr>
          </a:p>
        </p:txBody>
      </p:sp>
      <p:cxnSp>
        <p:nvCxnSpPr>
          <p:cNvPr id="19" name="Connecteur droit avec flèche 18"/>
          <p:cNvCxnSpPr/>
          <p:nvPr/>
        </p:nvCxnSpPr>
        <p:spPr>
          <a:xfrm flipH="1">
            <a:off x="7129783" y="3081290"/>
            <a:ext cx="261279" cy="78973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 de texte 230"/>
          <p:cNvSpPr txBox="1"/>
          <p:nvPr/>
        </p:nvSpPr>
        <p:spPr>
          <a:xfrm>
            <a:off x="7701035" y="2890790"/>
            <a:ext cx="1381125" cy="381000"/>
          </a:xfrm>
          <a:prstGeom prst="rect">
            <a:avLst/>
          </a:prstGeom>
          <a:solidFill>
            <a:schemeClr val="lt1"/>
          </a:solidFill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hangingPunct="0">
              <a:spcAft>
                <a:spcPts val="0"/>
              </a:spcAft>
            </a:pPr>
            <a:r>
              <a:rPr lang="fr-BE" sz="2200" kern="1400" dirty="0">
                <a:effectLst/>
                <a:latin typeface="Times New Roman"/>
                <a:ea typeface="Times New Roman"/>
              </a:rPr>
              <a:t> </a:t>
            </a:r>
            <a:r>
              <a:rPr lang="fr-BE" sz="2200" kern="1400" dirty="0">
                <a:solidFill>
                  <a:srgbClr val="4F81BD"/>
                </a:solidFill>
                <a:effectLst/>
                <a:latin typeface="Times New Roman"/>
                <a:ea typeface="Times New Roman"/>
              </a:rPr>
              <a:t>baladeur</a:t>
            </a:r>
            <a:endParaRPr lang="fr-BE" sz="1200" dirty="0">
              <a:effectLst/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286600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fr-BE" dirty="0"/>
            </a:br>
            <a:r>
              <a:rPr lang="fr-BE" dirty="0"/>
              <a:t>Exemple :</a:t>
            </a:r>
            <a:br>
              <a:rPr lang="fr-BE" dirty="0"/>
            </a:br>
            <a:endParaRPr lang="fr-BE" dirty="0"/>
          </a:p>
        </p:txBody>
      </p:sp>
      <p:sp>
        <p:nvSpPr>
          <p:cNvPr id="3" name="Rectangle 2"/>
          <p:cNvSpPr/>
          <p:nvPr/>
        </p:nvSpPr>
        <p:spPr>
          <a:xfrm>
            <a:off x="539552" y="2204864"/>
            <a:ext cx="777686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public String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endParaRPr lang="fr-B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hangingPunct="0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String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aRenvoyer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="";</a:t>
            </a:r>
            <a:endParaRPr lang="fr-B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hangingPunct="0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Noeud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baladeur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tete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fr-B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hangingPunct="0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(baladeur!=</a:t>
            </a:r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hangingPunct="0"/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aRenvoyer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+=" " + </a:t>
            </a:r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baladeur.element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hangingPunct="0"/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baladeur=</a:t>
            </a:r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baladeur.suivant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hangingPunct="0"/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 hangingPunct="0"/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return </a:t>
            </a:r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aRenvoyer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hangingPunct="0"/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405420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fr-BE" dirty="0"/>
            </a:br>
            <a:r>
              <a:rPr lang="fr-BE" dirty="0"/>
              <a:t>Exemple :</a:t>
            </a:r>
            <a:br>
              <a:rPr lang="fr-BE" dirty="0"/>
            </a:br>
            <a:endParaRPr lang="fr-BE" dirty="0"/>
          </a:p>
        </p:txBody>
      </p:sp>
      <p:sp>
        <p:nvSpPr>
          <p:cNvPr id="3" name="Rectangle 2"/>
          <p:cNvSpPr/>
          <p:nvPr/>
        </p:nvSpPr>
        <p:spPr>
          <a:xfrm>
            <a:off x="539552" y="2204864"/>
            <a:ext cx="777686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public String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endParaRPr lang="fr-B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hangingPunct="0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String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aRenvoyer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="";</a:t>
            </a:r>
            <a:endParaRPr lang="fr-B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hangingPunct="0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Noeud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baladeur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tete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fr-B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hangingPunct="0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(baladeur!=</a:t>
            </a:r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hangingPunct="0"/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aRenvoyer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+=" " + </a:t>
            </a:r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baladeur.element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hangingPunct="0"/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baladeur=</a:t>
            </a:r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baladeur.suivant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hangingPunct="0"/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 hangingPunct="0"/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return </a:t>
            </a:r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aRenvoyer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hangingPunct="0"/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Ellipse 3"/>
          <p:cNvSpPr/>
          <p:nvPr/>
        </p:nvSpPr>
        <p:spPr>
          <a:xfrm>
            <a:off x="2195736" y="2924944"/>
            <a:ext cx="2808312" cy="50405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94755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fr-BE" dirty="0"/>
            </a:br>
            <a:r>
              <a:rPr lang="fr-BE" dirty="0"/>
              <a:t>Exemple :</a:t>
            </a:r>
            <a:br>
              <a:rPr lang="fr-BE" dirty="0"/>
            </a:br>
            <a:endParaRPr lang="fr-BE" dirty="0"/>
          </a:p>
        </p:txBody>
      </p:sp>
      <p:sp>
        <p:nvSpPr>
          <p:cNvPr id="3" name="Rectangle 2"/>
          <p:cNvSpPr/>
          <p:nvPr/>
        </p:nvSpPr>
        <p:spPr>
          <a:xfrm>
            <a:off x="539552" y="2204864"/>
            <a:ext cx="777686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public String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endParaRPr lang="fr-B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hangingPunct="0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String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aRenvoyer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="";</a:t>
            </a:r>
            <a:endParaRPr lang="fr-B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hangingPunct="0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Noeud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baladeur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tete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fr-B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hangingPunct="0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(baladeur!=</a:t>
            </a:r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hangingPunct="0"/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aRenvoyer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+=" " + </a:t>
            </a:r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baladeur.element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hangingPunct="0"/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baladeur=</a:t>
            </a:r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baladeur.suivant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hangingPunct="0"/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 hangingPunct="0"/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return </a:t>
            </a:r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aRenvoyer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hangingPunct="0"/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Ellipse 3"/>
          <p:cNvSpPr/>
          <p:nvPr/>
        </p:nvSpPr>
        <p:spPr>
          <a:xfrm>
            <a:off x="908511" y="3226086"/>
            <a:ext cx="4464496" cy="50405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737867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fr-BE" dirty="0"/>
            </a:br>
            <a:r>
              <a:rPr lang="fr-BE" dirty="0"/>
              <a:t>Exemple :</a:t>
            </a:r>
            <a:br>
              <a:rPr lang="fr-BE" dirty="0"/>
            </a:br>
            <a:endParaRPr lang="fr-BE" dirty="0"/>
          </a:p>
        </p:txBody>
      </p:sp>
      <p:sp>
        <p:nvSpPr>
          <p:cNvPr id="3" name="Rectangle 2"/>
          <p:cNvSpPr/>
          <p:nvPr/>
        </p:nvSpPr>
        <p:spPr>
          <a:xfrm>
            <a:off x="539552" y="2204864"/>
            <a:ext cx="777686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public String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endParaRPr lang="fr-B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hangingPunct="0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String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aRenvoyer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="";</a:t>
            </a:r>
            <a:endParaRPr lang="fr-B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hangingPunct="0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Noeud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baladeur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tete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fr-B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hangingPunct="0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(baladeur!=</a:t>
            </a:r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hangingPunct="0"/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aRenvoyer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+=" " + </a:t>
            </a:r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baladeur.element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hangingPunct="0"/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baladeur=</a:t>
            </a:r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baladeur.suivant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hangingPunct="0"/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 hangingPunct="0"/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return </a:t>
            </a:r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aRenvoyer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hangingPunct="0"/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Ellipse 3"/>
          <p:cNvSpPr/>
          <p:nvPr/>
        </p:nvSpPr>
        <p:spPr>
          <a:xfrm>
            <a:off x="1331640" y="4005064"/>
            <a:ext cx="6048672" cy="50405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613620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fr-BE" dirty="0"/>
            </a:br>
            <a:r>
              <a:rPr lang="fr-BE" dirty="0"/>
              <a:t>Exemple :</a:t>
            </a:r>
            <a:br>
              <a:rPr lang="fr-BE" dirty="0"/>
            </a:br>
            <a:endParaRPr lang="fr-BE" dirty="0"/>
          </a:p>
        </p:txBody>
      </p:sp>
      <p:sp>
        <p:nvSpPr>
          <p:cNvPr id="3" name="Rectangle 2"/>
          <p:cNvSpPr/>
          <p:nvPr/>
        </p:nvSpPr>
        <p:spPr>
          <a:xfrm>
            <a:off x="539552" y="2204864"/>
            <a:ext cx="777686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public String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endParaRPr lang="fr-B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hangingPunct="0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String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aRenvoyer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="";</a:t>
            </a:r>
            <a:endParaRPr lang="fr-B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hangingPunct="0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Noeud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baladeur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tete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fr-BE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hangingPunct="0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fr-BE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fr-B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(baladeur!=</a:t>
            </a:r>
            <a:r>
              <a:rPr lang="fr-BE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fr-B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hangingPunct="0"/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aRenvoyer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+=" " + </a:t>
            </a:r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baladeur.element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hangingPunct="0"/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fr-B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baladeur=</a:t>
            </a:r>
            <a:r>
              <a:rPr lang="fr-BE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baladeur.suivant</a:t>
            </a:r>
            <a:r>
              <a:rPr lang="fr-B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hangingPunct="0"/>
            <a:r>
              <a:rPr lang="fr-B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 hangingPunct="0"/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return </a:t>
            </a:r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aRenvoyer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hangingPunct="0"/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456036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ET JAVA?</a:t>
            </a:r>
          </a:p>
        </p:txBody>
      </p:sp>
    </p:spTree>
    <p:extLst>
      <p:ext uri="{BB962C8B-B14F-4D97-AF65-F5344CB8AC3E}">
        <p14:creationId xmlns:p14="http://schemas.microsoft.com/office/powerpoint/2010/main" val="42435636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ET JAVA?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ED8692A-AD33-5004-C1D8-E991ACBC6D61}"/>
              </a:ext>
            </a:extLst>
          </p:cNvPr>
          <p:cNvSpPr txBox="1"/>
          <p:nvPr/>
        </p:nvSpPr>
        <p:spPr>
          <a:xfrm>
            <a:off x="611560" y="4843190"/>
            <a:ext cx="79208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2800" dirty="0"/>
              <a:t>La </a:t>
            </a:r>
            <a:r>
              <a:rPr lang="fr-BE" sz="2800" i="1" dirty="0" err="1"/>
              <a:t>LinkedList</a:t>
            </a:r>
            <a:r>
              <a:rPr lang="fr-BE" sz="2800" dirty="0"/>
              <a:t> implémente comme l’</a:t>
            </a:r>
            <a:r>
              <a:rPr lang="fr-BE" sz="2800" i="1" dirty="0" err="1"/>
              <a:t>ArrayList</a:t>
            </a:r>
            <a:r>
              <a:rPr lang="fr-BE" sz="2800" i="1" dirty="0"/>
              <a:t> </a:t>
            </a:r>
            <a:r>
              <a:rPr lang="fr-BE" sz="2800" dirty="0"/>
              <a:t>l’interface </a:t>
            </a:r>
            <a:r>
              <a:rPr lang="fr-BE" sz="2800" i="1" dirty="0"/>
              <a:t>List</a:t>
            </a:r>
            <a:r>
              <a:rPr lang="fr-BE" sz="2800" dirty="0"/>
              <a:t> </a:t>
            </a:r>
            <a:r>
              <a:rPr lang="fr-BE" sz="2800" dirty="0">
                <a:sym typeface="Wingdings" panose="05000000000000000000" pitchFamily="2" charset="2"/>
              </a:rPr>
              <a:t> « </a:t>
            </a:r>
            <a:r>
              <a:rPr lang="fr-BE" sz="2800" dirty="0" err="1">
                <a:sym typeface="Wingdings" panose="05000000000000000000" pitchFamily="2" charset="2"/>
              </a:rPr>
              <a:t>ordered</a:t>
            </a:r>
            <a:r>
              <a:rPr lang="fr-BE" sz="2800" dirty="0">
                <a:sym typeface="Wingdings" panose="05000000000000000000" pitchFamily="2" charset="2"/>
              </a:rPr>
              <a:t> by index ».</a:t>
            </a:r>
          </a:p>
          <a:p>
            <a:r>
              <a:rPr lang="fr-BE" sz="2800" dirty="0">
                <a:solidFill>
                  <a:srgbClr val="FF0000"/>
                </a:solidFill>
                <a:sym typeface="Wingdings" panose="05000000000000000000" pitchFamily="2" charset="2"/>
              </a:rPr>
              <a:t>Mais</a:t>
            </a:r>
            <a:r>
              <a:rPr lang="fr-BE" sz="2800" baseline="0" dirty="0">
                <a:solidFill>
                  <a:srgbClr val="FF0000"/>
                </a:solidFill>
                <a:sym typeface="Wingdings" panose="05000000000000000000" pitchFamily="2" charset="2"/>
              </a:rPr>
              <a:t> attention </a:t>
            </a:r>
            <a:r>
              <a:rPr lang="fr-BE" sz="2800" baseline="0" dirty="0">
                <a:sym typeface="Wingdings" panose="05000000000000000000" pitchFamily="2" charset="2"/>
              </a:rPr>
              <a:t>PAS accès direct!</a:t>
            </a:r>
            <a:endParaRPr lang="fr-BE" sz="28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7C810BB-381B-4040-A224-CE88CFCED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23" y="1330545"/>
            <a:ext cx="8532440" cy="326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1000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ET JAVA?</a:t>
            </a:r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7902992"/>
              </p:ext>
            </p:extLst>
          </p:nvPr>
        </p:nvGraphicFramePr>
        <p:xfrm>
          <a:off x="395536" y="1700808"/>
          <a:ext cx="8496944" cy="8024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2489">
                <a:tc>
                  <a:txBody>
                    <a:bodyPr/>
                    <a:lstStyle/>
                    <a:p>
                      <a:r>
                        <a:rPr lang="fr-BE" sz="2800" dirty="0" err="1"/>
                        <a:t>ListeSimpleImpl</a:t>
                      </a:r>
                      <a:r>
                        <a:rPr lang="fr-BE" sz="2800" dirty="0"/>
                        <a:t>&lt;E&gt;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800" dirty="0" err="1"/>
                        <a:t>LinkedList</a:t>
                      </a:r>
                      <a:r>
                        <a:rPr lang="fr-BE" sz="2800" dirty="0"/>
                        <a:t>&lt;E&gt;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78716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ET JAVA?</a:t>
            </a:r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322117"/>
              </p:ext>
            </p:extLst>
          </p:nvPr>
        </p:nvGraphicFramePr>
        <p:xfrm>
          <a:off x="395536" y="1700808"/>
          <a:ext cx="8496944" cy="1604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2489">
                <a:tc>
                  <a:txBody>
                    <a:bodyPr/>
                    <a:lstStyle/>
                    <a:p>
                      <a:r>
                        <a:rPr lang="fr-BE" sz="2800" dirty="0" err="1"/>
                        <a:t>ListeSimpleImpl</a:t>
                      </a:r>
                      <a:r>
                        <a:rPr lang="fr-BE" sz="2800" dirty="0"/>
                        <a:t>&lt;E&gt;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800" dirty="0" err="1"/>
                        <a:t>LinkedList</a:t>
                      </a:r>
                      <a:r>
                        <a:rPr lang="fr-BE" sz="2800" dirty="0"/>
                        <a:t>&lt;E&gt;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2489">
                <a:tc>
                  <a:txBody>
                    <a:bodyPr/>
                    <a:lstStyle/>
                    <a:p>
                      <a:r>
                        <a:rPr lang="fr-BE" sz="2000" b="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fr-BE" sz="2000" b="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taille()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size()</a:t>
                      </a:r>
                      <a:endParaRPr lang="fr-BE" sz="2000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88928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ET JAVA?</a:t>
            </a:r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399484"/>
              </p:ext>
            </p:extLst>
          </p:nvPr>
        </p:nvGraphicFramePr>
        <p:xfrm>
          <a:off x="395536" y="1700808"/>
          <a:ext cx="8496944" cy="2407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2489">
                <a:tc>
                  <a:txBody>
                    <a:bodyPr/>
                    <a:lstStyle/>
                    <a:p>
                      <a:r>
                        <a:rPr lang="fr-BE" sz="2800" dirty="0" err="1"/>
                        <a:t>ListeSimpleImpl</a:t>
                      </a:r>
                      <a:r>
                        <a:rPr lang="fr-BE" sz="2800" dirty="0"/>
                        <a:t>&lt;E&gt;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800" dirty="0" err="1"/>
                        <a:t>LinkedList</a:t>
                      </a:r>
                      <a:r>
                        <a:rPr lang="fr-BE" sz="2800" dirty="0"/>
                        <a:t>&lt;E&gt;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2489">
                <a:tc>
                  <a:txBody>
                    <a:bodyPr/>
                    <a:lstStyle/>
                    <a:p>
                      <a:r>
                        <a:rPr lang="fr-BE" sz="2000" b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fr-BE" sz="20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taille()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US" sz="2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size()</a:t>
                      </a:r>
                      <a:endParaRPr lang="fr-BE" sz="2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248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boolean</a:t>
                      </a:r>
                      <a:r>
                        <a:rPr lang="en-GB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GB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estVide</a:t>
                      </a:r>
                      <a:r>
                        <a:rPr lang="en-GB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boolean</a:t>
                      </a: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200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isEmpty</a:t>
                      </a: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()</a:t>
                      </a:r>
                      <a:endParaRPr lang="fr-BE" sz="2000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endParaRPr lang="fr-BE" sz="2000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17996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ET JAVA?</a:t>
            </a:r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435422"/>
              </p:ext>
            </p:extLst>
          </p:nvPr>
        </p:nvGraphicFramePr>
        <p:xfrm>
          <a:off x="395536" y="1700808"/>
          <a:ext cx="8496944" cy="3209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2489">
                <a:tc>
                  <a:txBody>
                    <a:bodyPr/>
                    <a:lstStyle/>
                    <a:p>
                      <a:r>
                        <a:rPr lang="fr-BE" sz="2800" dirty="0" err="1"/>
                        <a:t>ListeSimpleImpl</a:t>
                      </a:r>
                      <a:r>
                        <a:rPr lang="fr-BE" sz="2800" dirty="0"/>
                        <a:t>&lt;E&gt;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800" dirty="0" err="1"/>
                        <a:t>LinkedList</a:t>
                      </a:r>
                      <a:r>
                        <a:rPr lang="fr-BE" sz="2800" dirty="0"/>
                        <a:t>&lt;E&gt;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2489">
                <a:tc>
                  <a:txBody>
                    <a:bodyPr/>
                    <a:lstStyle/>
                    <a:p>
                      <a:r>
                        <a:rPr lang="fr-BE" sz="2000" b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fr-BE" sz="20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taille()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US" sz="2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size()</a:t>
                      </a:r>
                      <a:endParaRPr lang="fr-BE" sz="2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248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boolean</a:t>
                      </a:r>
                      <a:r>
                        <a:rPr lang="en-GB" sz="20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estVide</a:t>
                      </a:r>
                      <a:r>
                        <a:rPr lang="en-GB" sz="20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boolean</a:t>
                      </a:r>
                      <a:r>
                        <a:rPr lang="en-US" sz="2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200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isEmpty</a:t>
                      </a:r>
                      <a:r>
                        <a:rPr lang="en-US" sz="2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()</a:t>
                      </a:r>
                      <a:endParaRPr lang="fr-BE" sz="2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endParaRPr lang="fr-BE" sz="2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248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Iterator</a:t>
                      </a:r>
                      <a:r>
                        <a:rPr lang="fr-BE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&lt;E&gt; </a:t>
                      </a:r>
                      <a:r>
                        <a:rPr lang="fr-BE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iterateur</a:t>
                      </a:r>
                      <a:r>
                        <a:rPr lang="fr-BE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Iterator&lt;E&gt; iterator()</a:t>
                      </a:r>
                      <a:endParaRPr lang="fr-BE" sz="2000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75261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ET JAVA?</a:t>
            </a:r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328953"/>
              </p:ext>
            </p:extLst>
          </p:nvPr>
        </p:nvGraphicFramePr>
        <p:xfrm>
          <a:off x="395536" y="1700808"/>
          <a:ext cx="8496944" cy="40124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2489">
                <a:tc>
                  <a:txBody>
                    <a:bodyPr/>
                    <a:lstStyle/>
                    <a:p>
                      <a:r>
                        <a:rPr lang="fr-BE" sz="2800" dirty="0" err="1"/>
                        <a:t>ListeSimpleImpl</a:t>
                      </a:r>
                      <a:r>
                        <a:rPr lang="fr-BE" sz="2800" dirty="0"/>
                        <a:t>&lt;E&gt;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800" dirty="0" err="1"/>
                        <a:t>LinkedList</a:t>
                      </a:r>
                      <a:r>
                        <a:rPr lang="fr-BE" sz="2800" dirty="0"/>
                        <a:t>&lt;E&gt;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2489">
                <a:tc>
                  <a:txBody>
                    <a:bodyPr/>
                    <a:lstStyle/>
                    <a:p>
                      <a:r>
                        <a:rPr lang="fr-BE" sz="2000" b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fr-BE" sz="20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taille()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US" sz="2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size()</a:t>
                      </a:r>
                      <a:endParaRPr lang="fr-BE" sz="2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248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boolean</a:t>
                      </a:r>
                      <a:r>
                        <a:rPr lang="en-GB" sz="20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estVide</a:t>
                      </a:r>
                      <a:r>
                        <a:rPr lang="en-GB" sz="20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boolean</a:t>
                      </a:r>
                      <a:r>
                        <a:rPr lang="en-US" sz="2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200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isEmpty</a:t>
                      </a:r>
                      <a:r>
                        <a:rPr lang="en-US" sz="2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()</a:t>
                      </a:r>
                      <a:endParaRPr lang="fr-BE" sz="2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endParaRPr lang="fr-BE" sz="2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248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Iterator</a:t>
                      </a:r>
                      <a:r>
                        <a:rPr lang="fr-BE" sz="20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&lt;E&gt; </a:t>
                      </a:r>
                      <a:r>
                        <a:rPr lang="fr-BE" sz="2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iterator</a:t>
                      </a:r>
                      <a:r>
                        <a:rPr lang="fr-BE" sz="20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Iterator&lt;E&gt; iterator()</a:t>
                      </a:r>
                      <a:endParaRPr lang="fr-BE" sz="2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endParaRPr lang="fr-BE" sz="2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248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boolean</a:t>
                      </a:r>
                      <a:r>
                        <a:rPr lang="fr-BE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contient(E </a:t>
                      </a:r>
                      <a:r>
                        <a:rPr lang="fr-BE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element</a:t>
                      </a:r>
                      <a:r>
                        <a:rPr lang="fr-BE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boolean</a:t>
                      </a: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contains(Object o) </a:t>
                      </a:r>
                      <a:endParaRPr lang="fr-BE" sz="2000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endParaRPr lang="fr-BE" sz="2000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09636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ET JAVA?</a:t>
            </a:r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148808"/>
              </p:ext>
            </p:extLst>
          </p:nvPr>
        </p:nvGraphicFramePr>
        <p:xfrm>
          <a:off x="395536" y="1700808"/>
          <a:ext cx="8496944" cy="1604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8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8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2489">
                <a:tc>
                  <a:txBody>
                    <a:bodyPr/>
                    <a:lstStyle/>
                    <a:p>
                      <a:r>
                        <a:rPr lang="fr-BE" sz="2800" dirty="0" err="1"/>
                        <a:t>ListeSimpleImpl</a:t>
                      </a:r>
                      <a:r>
                        <a:rPr lang="fr-BE" sz="2800" dirty="0"/>
                        <a:t>&lt;E&gt;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800" dirty="0" err="1"/>
                        <a:t>LinkedList</a:t>
                      </a:r>
                      <a:r>
                        <a:rPr lang="fr-BE" sz="2800" dirty="0"/>
                        <a:t>&lt;E&gt;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248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b="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E premier()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E </a:t>
                      </a:r>
                      <a:r>
                        <a:rPr lang="en-US" sz="2000" b="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getFirst</a:t>
                      </a:r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()</a:t>
                      </a:r>
                      <a:endParaRPr lang="fr-BE" sz="2000" b="0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endParaRPr lang="fr-BE" sz="2000" b="0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07197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ET JAVA?</a:t>
            </a:r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462334"/>
              </p:ext>
            </p:extLst>
          </p:nvPr>
        </p:nvGraphicFramePr>
        <p:xfrm>
          <a:off x="395536" y="1700808"/>
          <a:ext cx="8496944" cy="2407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8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8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2489">
                <a:tc>
                  <a:txBody>
                    <a:bodyPr/>
                    <a:lstStyle/>
                    <a:p>
                      <a:r>
                        <a:rPr lang="fr-BE" sz="2800" dirty="0" err="1"/>
                        <a:t>ListeSimpleImpl</a:t>
                      </a:r>
                      <a:r>
                        <a:rPr lang="fr-BE" sz="2800" dirty="0"/>
                        <a:t>&lt;E&gt;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800" dirty="0" err="1"/>
                        <a:t>LinkedList</a:t>
                      </a:r>
                      <a:r>
                        <a:rPr lang="fr-BE" sz="2800" dirty="0"/>
                        <a:t>&lt;E&gt;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248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E premier()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E </a:t>
                      </a:r>
                      <a:r>
                        <a:rPr lang="en-US" sz="200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getFirst</a:t>
                      </a:r>
                      <a:r>
                        <a:rPr lang="en-US" sz="2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()</a:t>
                      </a:r>
                      <a:endParaRPr lang="fr-BE" sz="2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endParaRPr lang="fr-BE" sz="2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248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void</a:t>
                      </a:r>
                      <a:r>
                        <a:rPr lang="fr-BE" sz="200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fr-BE" sz="200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insererEnTete</a:t>
                      </a:r>
                      <a:r>
                        <a:rPr lang="fr-BE" sz="200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(E e)</a:t>
                      </a:r>
                      <a:endParaRPr lang="en-GB" sz="2000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void </a:t>
                      </a:r>
                      <a:r>
                        <a:rPr lang="en-US" sz="200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addFirst</a:t>
                      </a: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(E e)</a:t>
                      </a:r>
                      <a:endParaRPr lang="fr-BE" sz="2000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54668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ET JAVA?</a:t>
            </a:r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4483801"/>
              </p:ext>
            </p:extLst>
          </p:nvPr>
        </p:nvGraphicFramePr>
        <p:xfrm>
          <a:off x="395536" y="1700808"/>
          <a:ext cx="8496944" cy="3209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8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8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2489">
                <a:tc>
                  <a:txBody>
                    <a:bodyPr/>
                    <a:lstStyle/>
                    <a:p>
                      <a:r>
                        <a:rPr lang="fr-BE" sz="2800" dirty="0" err="1"/>
                        <a:t>ListeSimpleImpl</a:t>
                      </a:r>
                      <a:r>
                        <a:rPr lang="fr-BE" sz="2800" dirty="0"/>
                        <a:t>&lt;E&gt;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800" dirty="0" err="1"/>
                        <a:t>LinkedList</a:t>
                      </a:r>
                      <a:r>
                        <a:rPr lang="fr-BE" sz="2800" dirty="0"/>
                        <a:t>&lt;E&gt;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248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E premier()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E </a:t>
                      </a:r>
                      <a:r>
                        <a:rPr lang="en-US" sz="200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getFirst</a:t>
                      </a:r>
                      <a:r>
                        <a:rPr lang="en-US" sz="2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()</a:t>
                      </a:r>
                      <a:endParaRPr lang="fr-BE" sz="2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endParaRPr lang="fr-BE" sz="2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248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void</a:t>
                      </a:r>
                      <a:r>
                        <a:rPr lang="fr-BE" sz="2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fr-BE" sz="200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insererEnTete</a:t>
                      </a:r>
                      <a:r>
                        <a:rPr lang="fr-BE" sz="2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(E e)</a:t>
                      </a:r>
                      <a:endParaRPr lang="en-GB" sz="2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void </a:t>
                      </a:r>
                      <a:r>
                        <a:rPr lang="en-US" sz="200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addFirst</a:t>
                      </a:r>
                      <a:r>
                        <a:rPr lang="en-US" sz="2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(E e)</a:t>
                      </a:r>
                      <a:endParaRPr lang="fr-BE" sz="2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endParaRPr lang="fr-BE" sz="2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248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boolean</a:t>
                      </a: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200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supprimer</a:t>
                      </a: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(E e)</a:t>
                      </a:r>
                      <a:endParaRPr lang="fr-BE" sz="2000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boolean</a:t>
                      </a: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remove(Object o) </a:t>
                      </a:r>
                      <a:endParaRPr lang="fr-BE" sz="2000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29225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ET JAVA?</a:t>
            </a:r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8881254"/>
              </p:ext>
            </p:extLst>
          </p:nvPr>
        </p:nvGraphicFramePr>
        <p:xfrm>
          <a:off x="395536" y="1700808"/>
          <a:ext cx="8496944" cy="45205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8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8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2489">
                <a:tc>
                  <a:txBody>
                    <a:bodyPr/>
                    <a:lstStyle/>
                    <a:p>
                      <a:r>
                        <a:rPr lang="fr-BE" sz="2800" dirty="0" err="1"/>
                        <a:t>ListeSimpleImpl</a:t>
                      </a:r>
                      <a:r>
                        <a:rPr lang="fr-BE" sz="2800" dirty="0"/>
                        <a:t>&lt;E&gt;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800" dirty="0" err="1"/>
                        <a:t>LinkedList</a:t>
                      </a:r>
                      <a:r>
                        <a:rPr lang="fr-BE" sz="2800" dirty="0"/>
                        <a:t>&lt;E&gt;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248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E premier()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E </a:t>
                      </a:r>
                      <a:r>
                        <a:rPr lang="en-US" sz="2000" kern="120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getFirst</a:t>
                      </a:r>
                      <a:r>
                        <a:rPr lang="en-US" sz="200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()</a:t>
                      </a:r>
                      <a:endParaRPr lang="fr-BE" sz="2000" kern="1200" dirty="0">
                        <a:solidFill>
                          <a:schemeClr val="bg1">
                            <a:lumMod val="65000"/>
                          </a:schemeClr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endParaRPr lang="fr-BE" sz="2000" kern="1200" dirty="0">
                        <a:solidFill>
                          <a:schemeClr val="bg1">
                            <a:lumMod val="65000"/>
                          </a:schemeClr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248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kern="120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void</a:t>
                      </a:r>
                      <a:r>
                        <a:rPr lang="fr-BE" sz="2000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fr-BE" sz="2000" kern="120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insererEnTete</a:t>
                      </a:r>
                      <a:r>
                        <a:rPr lang="fr-BE" sz="200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(E e)</a:t>
                      </a:r>
                      <a:endParaRPr lang="en-GB" sz="2000" kern="1200" dirty="0">
                        <a:solidFill>
                          <a:schemeClr val="bg1">
                            <a:lumMod val="65000"/>
                          </a:schemeClr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void </a:t>
                      </a:r>
                      <a:r>
                        <a:rPr lang="en-US" sz="2000" kern="120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addFirst</a:t>
                      </a:r>
                      <a:r>
                        <a:rPr lang="en-US" sz="200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(E e)</a:t>
                      </a:r>
                      <a:endParaRPr lang="fr-BE" sz="2000" kern="1200" dirty="0">
                        <a:solidFill>
                          <a:schemeClr val="bg1">
                            <a:lumMod val="65000"/>
                          </a:schemeClr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endParaRPr lang="fr-BE" sz="2000" kern="1200" dirty="0">
                        <a:solidFill>
                          <a:schemeClr val="bg1">
                            <a:lumMod val="65000"/>
                          </a:schemeClr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248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boolean</a:t>
                      </a:r>
                      <a:r>
                        <a:rPr lang="en-US" sz="200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2000" kern="120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supprimer</a:t>
                      </a:r>
                      <a:r>
                        <a:rPr lang="en-US" sz="200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(E e)</a:t>
                      </a:r>
                      <a:endParaRPr lang="fr-BE" sz="2000" kern="1200" dirty="0">
                        <a:solidFill>
                          <a:schemeClr val="bg1">
                            <a:lumMod val="65000"/>
                          </a:schemeClr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boolean</a:t>
                      </a:r>
                      <a:r>
                        <a:rPr lang="en-US" sz="200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remove(Object o) </a:t>
                      </a:r>
                      <a:endParaRPr lang="fr-BE" sz="2000" kern="1200" dirty="0">
                        <a:solidFill>
                          <a:schemeClr val="bg1">
                            <a:lumMod val="65000"/>
                          </a:schemeClr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2489">
                <a:tc>
                  <a:txBody>
                    <a:bodyPr/>
                    <a:lstStyle/>
                    <a:p>
                      <a:pPr hangingPunct="0"/>
                      <a:r>
                        <a:rPr lang="fr-BE" sz="200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boolean</a:t>
                      </a:r>
                      <a:r>
                        <a:rPr lang="fr-BE" sz="2000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fr-BE" sz="200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insererApres</a:t>
                      </a:r>
                      <a:r>
                        <a:rPr lang="fr-BE" sz="200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</a:t>
                      </a:r>
                    </a:p>
                    <a:p>
                      <a:pPr hangingPunct="0"/>
                      <a:r>
                        <a:rPr lang="fr-BE" sz="200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E e, E </a:t>
                      </a:r>
                      <a:r>
                        <a:rPr lang="fr-BE" sz="200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eAInserer</a:t>
                      </a:r>
                      <a:r>
                        <a:rPr lang="fr-BE" sz="200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200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indexOf</a:t>
                      </a: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(Object o)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void add(</a:t>
                      </a:r>
                      <a:r>
                        <a:rPr lang="en-US" sz="200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 </a:t>
                      </a:r>
                      <a:r>
                        <a:rPr lang="en-US" sz="200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index,E</a:t>
                      </a: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 e) </a:t>
                      </a:r>
                      <a:endParaRPr lang="fr-BE" sz="2000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endParaRPr lang="fr-BE" sz="2000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127650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741</TotalTime>
  <Words>972</Words>
  <Application>Microsoft Office PowerPoint</Application>
  <PresentationFormat>Affichage à l'écran (4:3)</PresentationFormat>
  <Paragraphs>219</Paragraphs>
  <Slides>31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Courier New</vt:lpstr>
      <vt:lpstr>Times New Roman</vt:lpstr>
      <vt:lpstr>Wingdings</vt:lpstr>
      <vt:lpstr>Thème Office</vt:lpstr>
      <vt:lpstr>Les listes</vt:lpstr>
      <vt:lpstr>Les listes</vt:lpstr>
      <vt:lpstr>Les listes</vt:lpstr>
      <vt:lpstr>LISTE (LIST)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 Implémentation de la liste via  une structure chaînée : </vt:lpstr>
      <vt:lpstr> Le parcours itératif d’une structure chaînée se fait via un « baladeur » : </vt:lpstr>
      <vt:lpstr> Le parcours itératif d’une structure chaînée se fait via un « baladeur » : </vt:lpstr>
      <vt:lpstr> Le parcours itératif d’une structure chaînée se fait via un « baladeur » : </vt:lpstr>
      <vt:lpstr> Le parcours itératif d’une structure chaînée se fait via un « baladeur » : </vt:lpstr>
      <vt:lpstr> Exemple : </vt:lpstr>
      <vt:lpstr> Exemple : </vt:lpstr>
      <vt:lpstr> Exemple : </vt:lpstr>
      <vt:lpstr> Exemple : </vt:lpstr>
      <vt:lpstr> Exemple : </vt:lpstr>
      <vt:lpstr>ET JAVA?</vt:lpstr>
      <vt:lpstr>ET JAVA?</vt:lpstr>
      <vt:lpstr>ET JAVA?</vt:lpstr>
      <vt:lpstr>ET JAVA?</vt:lpstr>
      <vt:lpstr>ET JAVA?</vt:lpstr>
      <vt:lpstr>ET JAVA?</vt:lpstr>
      <vt:lpstr>ET JAVA?</vt:lpstr>
      <vt:lpstr>ET JAVA?</vt:lpstr>
      <vt:lpstr>ET JAVA?</vt:lpstr>
      <vt:lpstr>ET JAVA?</vt:lpstr>
      <vt:lpstr>ET JAVA?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annick</dc:creator>
  <cp:lastModifiedBy>Annick Dupont</cp:lastModifiedBy>
  <cp:revision>102</cp:revision>
  <dcterms:created xsi:type="dcterms:W3CDTF">2014-02-08T19:50:02Z</dcterms:created>
  <dcterms:modified xsi:type="dcterms:W3CDTF">2025-02-09T09:51:17Z</dcterms:modified>
</cp:coreProperties>
</file>